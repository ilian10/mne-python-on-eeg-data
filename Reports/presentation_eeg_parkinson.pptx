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56.png" ContentType="image/png"/>
  <Override PartName="/ppt/media/image54.png" ContentType="image/png"/>
  <Override PartName="/ppt/media/image47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38.png" ContentType="image/png"/>
  <Override PartName="/ppt/media/image37.png" ContentType="image/png"/>
  <Override PartName="/ppt/media/image5.png" ContentType="image/png"/>
  <Override PartName="/ppt/media/image35.png" ContentType="image/png"/>
  <Override PartName="/ppt/media/image3.png" ContentType="image/png"/>
  <Override PartName="/ppt/media/image6.png" ContentType="image/png"/>
  <Override PartName="/ppt/media/image15.png" ContentType="image/png"/>
  <Override PartName="/ppt/media/image59.svg" ContentType="image/svg"/>
  <Override PartName="/ppt/media/image19.png" ContentType="image/png"/>
  <Override PartName="/ppt/media/image21.png" ContentType="image/png"/>
  <Override PartName="/ppt/media/image58.png" ContentType="image/png"/>
  <Override PartName="/ppt/media/image61.svg" ContentType="image/svg"/>
  <Override PartName="/ppt/media/image29.png" ContentType="image/png"/>
  <Override PartName="/ppt/media/image25.png" ContentType="image/png"/>
  <Override PartName="/ppt/media/image49.svg" ContentType="image/svg"/>
  <Override PartName="/ppt/media/image12.svg" ContentType="image/svg"/>
  <Override PartName="/ppt/media/image28.png" ContentType="image/png"/>
  <Override PartName="/ppt/media/image14.svg" ContentType="image/svg"/>
  <Override PartName="/ppt/media/image27.png" ContentType="image/png"/>
  <Override PartName="/ppt/media/image26.png" ContentType="image/png"/>
  <Override PartName="/ppt/media/image24.png" ContentType="image/png"/>
  <Override PartName="/ppt/media/image60.png" ContentType="image/png"/>
  <Override PartName="/ppt/media/image23.png" ContentType="image/png"/>
  <Override PartName="/ppt/media/image22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34.png" ContentType="image/png"/>
  <Override PartName="/ppt/media/image48.png" ContentType="image/png"/>
  <Override PartName="/ppt/media/image17.png" ContentType="image/png"/>
  <Override PartName="/ppt/media/image8.png" ContentType="image/png"/>
  <Override PartName="/ppt/media/image20.png" ContentType="image/png"/>
  <Override PartName="/ppt/media/image18.png" ContentType="image/png"/>
  <Override PartName="/ppt/media/image9.png" ContentType="image/png"/>
  <Override PartName="/ppt/media/image36.png" ContentType="image/png"/>
  <Override PartName="/ppt/media/image57.svg" ContentType="image/svg"/>
  <Override PartName="/ppt/media/image4.png" ContentType="image/png"/>
  <Override PartName="/ppt/media/image13.png" ContentType="image/png"/>
  <Override PartName="/ppt/media/image30.png" ContentType="image/png"/>
  <Override PartName="/ppt/media/image31.png" ContentType="image/png"/>
  <Override PartName="/ppt/media/image2.png" ContentType="image/png"/>
  <Override PartName="/ppt/media/image11.png" ContentType="image/png"/>
  <Override PartName="/ppt/media/image55.svg" ContentType="image/svg"/>
  <Override PartName="/ppt/media/image32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51.svg" ContentType="image/svg"/>
  <Override PartName="/ppt/media/image52.png" ContentType="image/png"/>
  <Override PartName="/ppt/media/image53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D56B7F-46E2-44F3-8B55-1E13D44DCA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0A91A7-304B-4145-89A8-BC49332ECC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AA96709-CBF0-4F82-9A39-62DB3E14C9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39703BE-C062-4FE8-A91F-F05F6342EC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AAFB126-CC59-463B-903A-A69946EF41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4507BA5-14FD-4FE2-AB1A-D49274159F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1E863A3-460C-4B3D-A593-6941DD2FCD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D89C068-F061-42AC-9EC4-45E48623A5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FA565F3-A213-4423-BF8C-E3C7CA12EA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30FDA56-0AA3-4F89-876E-38894AF2C3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8990B81-044E-426B-9543-CC03727F93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6000" spc="-1" strike="noStrike">
                <a:solidFill>
                  <a:schemeClr val="dk1"/>
                </a:solidFill>
                <a:latin typeface="Aptos Display"/>
              </a:rPr>
              <a:t>Modifiez le </a:t>
            </a:r>
            <a:r>
              <a:rPr b="0" lang="fr-FR" sz="6000" spc="-1" strike="noStrike">
                <a:solidFill>
                  <a:schemeClr val="dk1"/>
                </a:solidFill>
                <a:latin typeface="Aptos Display"/>
              </a:rPr>
              <a:t>style du titre</a:t>
            </a:r>
            <a:endParaRPr b="0" lang="fr-FR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9A3031-7C10-433D-B39F-EFC8DC7A4C08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éditer le format du plan de texte</a:t>
            </a:r>
            <a:endParaRPr b="0" lang="fr-FR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Second niveau de plan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Troisième niveau de plan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 de plan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C43711-0406-4BB3-AB33-197C1BB2CA4C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3EDFF0-AF36-4717-A449-6F800AC64795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8820EE-B74B-4177-9D26-7D707EE79412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60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Cliquez pour modifier les styles du texte du masque</a:t>
            </a:r>
            <a:endParaRPr b="0" lang="fr-FR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3D15FD-816F-4529-BAB8-4E083299C640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8C2409-A70A-4B01-8C13-BD51D65A9C44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A91B1F-077C-4E37-A17F-45962BFA4DCA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F6C7E3-DF5D-4F97-9063-5BDE5F1E0D2D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64F513-DB1A-46DA-AE4E-060E93D14198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32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6719EC-6F51-4979-BC68-FD5198CE1768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32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Second niveau de plan</a:t>
            </a:r>
            <a:endParaRPr b="0" lang="fr-FR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Troisième niveau de plan</a:t>
            </a:r>
            <a:endParaRPr b="0" lang="fr-FR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Quatrième niveau de plan</a:t>
            </a:r>
            <a:endParaRPr b="0" lang="fr-FR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Cinquième niveau de plan</a:t>
            </a:r>
            <a:endParaRPr b="0" lang="fr-FR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Sixième niveau de plan</a:t>
            </a:r>
            <a:endParaRPr b="0" lang="fr-FR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Septième niveau de plan</a:t>
            </a:r>
            <a:endParaRPr b="0" lang="fr-F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3D562C-9A5E-4158-902A-B856E0025235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7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7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svg"/><Relationship Id="rId3" Type="http://schemas.openxmlformats.org/officeDocument/2006/relationships/image" Target="../media/image50.png"/><Relationship Id="rId4" Type="http://schemas.openxmlformats.org/officeDocument/2006/relationships/image" Target="../media/image51.svg"/><Relationship Id="rId5" Type="http://schemas.openxmlformats.org/officeDocument/2006/relationships/image" Target="../media/image52.png"/><Relationship Id="rId6" Type="http://schemas.openxmlformats.org/officeDocument/2006/relationships/image" Target="../media/image53.svg"/><Relationship Id="rId7" Type="http://schemas.openxmlformats.org/officeDocument/2006/relationships/image" Target="../media/image54.png"/><Relationship Id="rId8" Type="http://schemas.openxmlformats.org/officeDocument/2006/relationships/image" Target="../media/image55.svg"/><Relationship Id="rId9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svg"/><Relationship Id="rId3" Type="http://schemas.openxmlformats.org/officeDocument/2006/relationships/image" Target="../media/image58.png"/><Relationship Id="rId4" Type="http://schemas.openxmlformats.org/officeDocument/2006/relationships/image" Target="../media/image59.svg"/><Relationship Id="rId5" Type="http://schemas.openxmlformats.org/officeDocument/2006/relationships/image" Target="../media/image60.png"/><Relationship Id="rId6" Type="http://schemas.openxmlformats.org/officeDocument/2006/relationships/image" Target="../media/image61.svg"/><Relationship Id="rId7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4" descr=""/>
          <p:cNvPicPr/>
          <p:nvPr/>
        </p:nvPicPr>
        <p:blipFill>
          <a:blip r:embed="rId1"/>
          <a:stretch/>
        </p:blipFill>
        <p:spPr>
          <a:xfrm>
            <a:off x="0" y="0"/>
            <a:ext cx="3828600" cy="1323720"/>
          </a:xfrm>
          <a:prstGeom prst="rect">
            <a:avLst/>
          </a:prstGeom>
          <a:ln w="0">
            <a:noFill/>
          </a:ln>
        </p:spPr>
      </p:pic>
      <p:pic>
        <p:nvPicPr>
          <p:cNvPr id="67" name="Image 6" descr=""/>
          <p:cNvPicPr/>
          <p:nvPr/>
        </p:nvPicPr>
        <p:blipFill>
          <a:blip r:embed="rId2"/>
          <a:stretch/>
        </p:blipFill>
        <p:spPr>
          <a:xfrm>
            <a:off x="9648720" y="0"/>
            <a:ext cx="2542680" cy="1533240"/>
          </a:xfrm>
          <a:prstGeom prst="rect">
            <a:avLst/>
          </a:prstGeom>
          <a:ln w="0">
            <a:noFill/>
          </a:ln>
        </p:spPr>
      </p:pic>
      <p:sp>
        <p:nvSpPr>
          <p:cNvPr id="68" name="ZoneTexte 1"/>
          <p:cNvSpPr/>
          <p:nvPr/>
        </p:nvSpPr>
        <p:spPr>
          <a:xfrm>
            <a:off x="1007280" y="2070360"/>
            <a:ext cx="10177200" cy="38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b="1" lang="fr-FR" sz="2400" spc="-1" strike="noStrike">
                <a:solidFill>
                  <a:schemeClr val="dk1"/>
                </a:solidFill>
                <a:latin typeface="Times New Roman"/>
              </a:rPr>
              <a:t>Electroencephalogram data processing : 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b="1" lang="fr-FR" sz="2400" spc="-1" strike="noStrike">
                <a:solidFill>
                  <a:schemeClr val="dk1"/>
                </a:solidFill>
                <a:latin typeface="Times New Roman"/>
              </a:rPr>
              <a:t>Intrinsic motivation and decision-making in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b="1" lang="fr-FR" sz="2400" spc="-1" strike="noStrike">
                <a:solidFill>
                  <a:schemeClr val="dk1"/>
                </a:solidFill>
                <a:latin typeface="Times New Roman"/>
              </a:rPr>
              <a:t>Patients with Parkinson’s syndrome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37" descr=""/>
          <p:cNvPicPr/>
          <p:nvPr/>
        </p:nvPicPr>
        <p:blipFill>
          <a:blip r:embed="rId1"/>
          <a:stretch/>
        </p:blipFill>
        <p:spPr>
          <a:xfrm>
            <a:off x="-9720" y="0"/>
            <a:ext cx="1475280" cy="6857640"/>
          </a:xfrm>
          <a:prstGeom prst="rect">
            <a:avLst/>
          </a:prstGeom>
          <a:ln w="0">
            <a:noFill/>
          </a:ln>
        </p:spPr>
      </p:pic>
      <p:pic>
        <p:nvPicPr>
          <p:cNvPr id="70" name="Image 35" descr=""/>
          <p:cNvPicPr/>
          <p:nvPr/>
        </p:nvPicPr>
        <p:blipFill>
          <a:blip r:embed="rId2"/>
          <a:stretch/>
        </p:blipFill>
        <p:spPr>
          <a:xfrm>
            <a:off x="10783800" y="0"/>
            <a:ext cx="1475280" cy="6857640"/>
          </a:xfrm>
          <a:prstGeom prst="rect">
            <a:avLst/>
          </a:prstGeom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51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fr-FR" sz="4400" spc="-1" strike="noStrike">
                <a:solidFill>
                  <a:schemeClr val="dk1"/>
                </a:solidFill>
                <a:latin typeface="Times New Roman"/>
              </a:rPr>
              <a:t>Effort modulated by social comparison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72" name="Image 4" descr=""/>
          <p:cNvPicPr/>
          <p:nvPr/>
        </p:nvPicPr>
        <p:blipFill>
          <a:blip r:embed="rId3"/>
          <a:stretch/>
        </p:blipFill>
        <p:spPr>
          <a:xfrm>
            <a:off x="838080" y="1514160"/>
            <a:ext cx="4137480" cy="3948120"/>
          </a:xfrm>
          <a:prstGeom prst="rect">
            <a:avLst/>
          </a:prstGeom>
          <a:ln w="0">
            <a:noFill/>
          </a:ln>
        </p:spPr>
      </p:pic>
      <p:pic>
        <p:nvPicPr>
          <p:cNvPr id="73" name="Image 6" descr=""/>
          <p:cNvPicPr/>
          <p:nvPr/>
        </p:nvPicPr>
        <p:blipFill>
          <a:blip r:embed="rId4"/>
          <a:stretch/>
        </p:blipFill>
        <p:spPr>
          <a:xfrm>
            <a:off x="7594200" y="1514160"/>
            <a:ext cx="3697200" cy="3948120"/>
          </a:xfrm>
          <a:prstGeom prst="rect">
            <a:avLst/>
          </a:prstGeom>
          <a:ln w="0">
            <a:noFill/>
          </a:ln>
        </p:spPr>
      </p:pic>
      <p:cxnSp>
        <p:nvCxnSpPr>
          <p:cNvPr id="74" name="Connecteur : en arc 28"/>
          <p:cNvCxnSpPr/>
          <p:nvPr/>
        </p:nvCxnSpPr>
        <p:spPr>
          <a:xfrm flipV="1">
            <a:off x="5192640" y="3265560"/>
            <a:ext cx="2003040" cy="555480"/>
          </a:xfrm>
          <a:prstGeom prst="curvedConnector3">
            <a:avLst>
              <a:gd name="adj1" fmla="val 25022"/>
            </a:avLst>
          </a:prstGeom>
          <a:ln w="76200">
            <a:solidFill>
              <a:srgbClr val="000000"/>
            </a:solidFill>
            <a:tailEnd len="med" type="triangle" w="med"/>
          </a:ln>
        </p:spPr>
      </p:cxnSp>
      <p:sp>
        <p:nvSpPr>
          <p:cNvPr id="75" name="ZoneTexte 30"/>
          <p:cNvSpPr/>
          <p:nvPr/>
        </p:nvSpPr>
        <p:spPr>
          <a:xfrm>
            <a:off x="7872480" y="5690160"/>
            <a:ext cx="31406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Times New Roman"/>
              </a:rPr>
              <a:t>Increasing effort following implicit comparison.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ZoneTexte 31"/>
          <p:cNvSpPr/>
          <p:nvPr/>
        </p:nvSpPr>
        <p:spPr>
          <a:xfrm>
            <a:off x="1604160" y="5690160"/>
            <a:ext cx="26053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Times New Roman"/>
              </a:rPr>
              <a:t>Leisurely jog, alone ...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Times New Roman"/>
              </a:rPr>
              <a:t>Moderate effort 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Image 33" descr=""/>
          <p:cNvPicPr/>
          <p:nvPr/>
        </p:nvPicPr>
        <p:blipFill>
          <a:blip r:embed="rId5"/>
          <a:stretch/>
        </p:blipFill>
        <p:spPr>
          <a:xfrm>
            <a:off x="5175360" y="5029200"/>
            <a:ext cx="2219040" cy="1828440"/>
          </a:xfrm>
          <a:prstGeom prst="rect">
            <a:avLst/>
          </a:prstGeom>
          <a:ln w="0">
            <a:noFill/>
          </a:ln>
        </p:spPr>
      </p:pic>
    </p:spTree>
  </p:cSld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31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43560" y="79560"/>
            <a:ext cx="5743800" cy="81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fr-FR" sz="4400" spc="-1" strike="noStrike">
                <a:solidFill>
                  <a:schemeClr val="dk1"/>
                </a:solidFill>
                <a:latin typeface="Times New Roman"/>
              </a:rPr>
              <a:t>Context &amp; Prior Work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grpSp>
        <p:nvGrpSpPr>
          <p:cNvPr id="80" name="Group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3048120"/>
            <a:ext cx="731160" cy="673200"/>
            <a:chOff x="0" y="3048120"/>
            <a:chExt cx="731160" cy="673200"/>
          </a:xfrm>
        </p:grpSpPr>
        <p:sp>
          <p:nvSpPr>
            <p:cNvPr id="81" name="Rectangle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3048120"/>
              <a:ext cx="195480" cy="673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82" name="Rectangle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7840" y="3048120"/>
              <a:ext cx="195480" cy="673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83" name="Rectangle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5680" y="3048120"/>
              <a:ext cx="195480" cy="673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84" name="Rectangle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7760" y="0"/>
            <a:ext cx="1494000" cy="6857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5" name="Rectangle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257760"/>
            <a:ext cx="4836960" cy="29797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6" name="Rectangl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3462120"/>
            <a:ext cx="4836960" cy="29797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pic>
        <p:nvPicPr>
          <p:cNvPr id="87" name="Image 28" descr=""/>
          <p:cNvPicPr/>
          <p:nvPr/>
        </p:nvPicPr>
        <p:blipFill>
          <a:blip r:embed="rId1"/>
          <a:stretch/>
        </p:blipFill>
        <p:spPr>
          <a:xfrm>
            <a:off x="-75600" y="0"/>
            <a:ext cx="1018800" cy="818640"/>
          </a:xfrm>
          <a:prstGeom prst="rect">
            <a:avLst/>
          </a:prstGeom>
          <a:ln w="0">
            <a:noFill/>
          </a:ln>
        </p:spPr>
      </p:pic>
      <p:sp>
        <p:nvSpPr>
          <p:cNvPr id="88" name="Rectangle 29"/>
          <p:cNvSpPr/>
          <p:nvPr/>
        </p:nvSpPr>
        <p:spPr>
          <a:xfrm>
            <a:off x="-14400" y="3036600"/>
            <a:ext cx="926640" cy="69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9" name="ZoneTexte 47"/>
          <p:cNvSpPr/>
          <p:nvPr/>
        </p:nvSpPr>
        <p:spPr>
          <a:xfrm>
            <a:off x="939240" y="959400"/>
            <a:ext cx="5428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Social pressure especially competition can boost attention and effort </a:t>
            </a:r>
            <a:r>
              <a:rPr b="0" i="1" lang="en-US" sz="1800" spc="-1" strike="noStrike">
                <a:solidFill>
                  <a:schemeClr val="dk1"/>
                </a:solidFill>
                <a:latin typeface="Times New Roman"/>
              </a:rPr>
              <a:t>[1][2]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ZoneTexte 53"/>
          <p:cNvSpPr/>
          <p:nvPr/>
        </p:nvSpPr>
        <p:spPr>
          <a:xfrm>
            <a:off x="943560" y="3021120"/>
            <a:ext cx="5424480" cy="27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Prior study by Ignasi Cos and Matthieu Gilson in healthy participants </a:t>
            </a:r>
            <a:r>
              <a:rPr b="0" i="1" lang="en-US" sz="1800" spc="-1" strike="noStrike">
                <a:solidFill>
                  <a:schemeClr val="dk1"/>
                </a:solidFill>
                <a:latin typeface="Times New Roman"/>
              </a:rPr>
              <a:t>[4]</a:t>
            </a: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Virtual partner created a sense of hierarchy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EEG revealed changes in beta (15–32 Hz) and gamma (40–80 Hz) bands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Machine learning (Logistic regression, MLR) classified motivational states with up to 95% accuracy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ZoneTexte 57"/>
          <p:cNvSpPr/>
          <p:nvPr/>
        </p:nvSpPr>
        <p:spPr>
          <a:xfrm>
            <a:off x="-11160" y="6323760"/>
            <a:ext cx="2975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fr-FR" sz="1000" spc="-1" strike="noStrike">
                <a:solidFill>
                  <a:schemeClr val="dk1"/>
                </a:solidFill>
                <a:latin typeface="Times New Roman"/>
              </a:rPr>
              <a:t>[1] DiMenichi &amp; Tricomi, Front. Psychol., 2015</a:t>
            </a:r>
            <a:br>
              <a:rPr sz="1000"/>
            </a:br>
            <a:r>
              <a:rPr b="0" i="1" lang="fr-FR" sz="1000" spc="-1" strike="noStrike">
                <a:solidFill>
                  <a:schemeClr val="dk1"/>
                </a:solidFill>
                <a:latin typeface="Times New Roman"/>
              </a:rPr>
              <a:t>[2] Garcia et al., Perspect. Psychol. Sci., 2013</a:t>
            </a:r>
            <a:br>
              <a:rPr sz="1000"/>
            </a:br>
            <a:r>
              <a:rPr b="0" i="1" lang="fr-FR" sz="1000" spc="-1" strike="noStrike">
                <a:solidFill>
                  <a:schemeClr val="dk1"/>
                </a:solidFill>
                <a:latin typeface="Times New Roman"/>
              </a:rPr>
              <a:t>[4] Cos et al., Research Square, 2021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Image 7" descr=""/>
          <p:cNvPicPr/>
          <p:nvPr/>
        </p:nvPicPr>
        <p:blipFill>
          <a:blip r:embed="rId2"/>
          <a:stretch/>
        </p:blipFill>
        <p:spPr>
          <a:xfrm>
            <a:off x="7904880" y="257040"/>
            <a:ext cx="2742840" cy="2580840"/>
          </a:xfrm>
          <a:prstGeom prst="rect">
            <a:avLst/>
          </a:prstGeom>
          <a:ln w="0">
            <a:noFill/>
          </a:ln>
        </p:spPr>
      </p:pic>
      <p:sp>
        <p:nvSpPr>
          <p:cNvPr id="93" name="ZoneTexte 9"/>
          <p:cNvSpPr/>
          <p:nvPr/>
        </p:nvSpPr>
        <p:spPr>
          <a:xfrm>
            <a:off x="6834960" y="2907360"/>
            <a:ext cx="4883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chemeClr val="dk1"/>
                </a:solidFill>
                <a:latin typeface="Times New Roman"/>
              </a:rPr>
              <a:t>Behavioural effect of the motivated state on the </a:t>
            </a:r>
            <a:r>
              <a:rPr b="1" lang="fr-FR" sz="1100" spc="-1" strike="noStrike">
                <a:solidFill>
                  <a:schemeClr val="dk1"/>
                </a:solidFill>
                <a:latin typeface="Times New Roman"/>
              </a:rPr>
              <a:t>End- point Error </a:t>
            </a:r>
            <a:r>
              <a:rPr b="1" i="1" lang="fr-FR" sz="1100" spc="-1" strike="noStrike">
                <a:solidFill>
                  <a:schemeClr val="dk1"/>
                </a:solidFill>
                <a:latin typeface="Times New Roman"/>
              </a:rPr>
              <a:t>[4]</a:t>
            </a:r>
            <a:r>
              <a:rPr b="1" lang="fr-FR" sz="1100" spc="-1" strike="noStrike">
                <a:solidFill>
                  <a:schemeClr val="dk1"/>
                </a:solidFill>
                <a:latin typeface="Times New Roman"/>
              </a:rPr>
              <a:t>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Image 11" descr=""/>
          <p:cNvPicPr/>
          <p:nvPr/>
        </p:nvPicPr>
        <p:blipFill>
          <a:blip r:embed="rId3"/>
          <a:stretch/>
        </p:blipFill>
        <p:spPr>
          <a:xfrm>
            <a:off x="7904880" y="3459240"/>
            <a:ext cx="2982240" cy="2690280"/>
          </a:xfrm>
          <a:prstGeom prst="rect">
            <a:avLst/>
          </a:prstGeom>
          <a:ln w="0">
            <a:noFill/>
          </a:ln>
        </p:spPr>
      </p:pic>
      <p:sp>
        <p:nvSpPr>
          <p:cNvPr id="95" name="Rectangle 12"/>
          <p:cNvSpPr/>
          <p:nvPr/>
        </p:nvSpPr>
        <p:spPr>
          <a:xfrm>
            <a:off x="7904880" y="3456360"/>
            <a:ext cx="315720" cy="2484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6" name="Rectangle 13"/>
          <p:cNvSpPr/>
          <p:nvPr/>
        </p:nvSpPr>
        <p:spPr>
          <a:xfrm>
            <a:off x="10289160" y="3630960"/>
            <a:ext cx="457560" cy="900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7" name="ZoneTexte 15"/>
          <p:cNvSpPr/>
          <p:nvPr/>
        </p:nvSpPr>
        <p:spPr>
          <a:xfrm>
            <a:off x="8002440" y="6152760"/>
            <a:ext cx="29822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fr-FR" sz="1100" spc="-1" strike="noStrike">
                <a:solidFill>
                  <a:schemeClr val="dk1"/>
                </a:solidFill>
                <a:latin typeface="Times New Roman"/>
              </a:rPr>
              <a:t>All Sources Space EEG Analyses </a:t>
            </a:r>
            <a:r>
              <a:rPr b="1" i="1" lang="fr-FR" sz="1100" spc="-1" strike="noStrike">
                <a:solidFill>
                  <a:schemeClr val="dk1"/>
                </a:solidFill>
                <a:latin typeface="Times New Roman"/>
              </a:rPr>
              <a:t>[4]</a:t>
            </a:r>
            <a:r>
              <a:rPr b="1" lang="fr-FR" sz="1100" spc="-1" strike="noStrike">
                <a:solidFill>
                  <a:schemeClr val="dk1"/>
                </a:solidFill>
                <a:latin typeface="Times New Roman"/>
              </a:rPr>
              <a:t>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16"/>
          <p:cNvSpPr/>
          <p:nvPr/>
        </p:nvSpPr>
        <p:spPr>
          <a:xfrm>
            <a:off x="10485720" y="3474000"/>
            <a:ext cx="477000" cy="900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9" name="ZoneTexte 2"/>
          <p:cNvSpPr/>
          <p:nvPr/>
        </p:nvSpPr>
        <p:spPr>
          <a:xfrm>
            <a:off x="939240" y="1988640"/>
            <a:ext cx="5428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Social hierarchy represented in prefrontal cortex, insula, angular gyrus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/>
  </p:transition>
  <p:timing>
    <p:tnLst>
      <p:par>
        <p:cTn id="32" dur="indefinite" restart="never" nodeType="tmRoot">
          <p:childTnLst>
            <p:seq>
              <p:cTn id="33" dur="indefinite" nodeType="mainSeq">
                <p:childTnLst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grpSp>
        <p:nvGrpSpPr>
          <p:cNvPr id="101" name="Group 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271240" y="0"/>
            <a:ext cx="7649280" cy="5727960"/>
            <a:chOff x="2271240" y="0"/>
            <a:chExt cx="7649280" cy="5727960"/>
          </a:xfrm>
        </p:grpSpPr>
        <p:cxnSp>
          <p:nvCxnSpPr>
            <p:cNvPr id="102" name="Straight Connector 6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2271240" y="5727960"/>
              <a:ext cx="7643520" cy="360"/>
            </a:xfrm>
            <a:prstGeom prst="straightConnector1">
              <a:avLst/>
            </a:prstGeom>
            <a:ln w="152400">
              <a:solidFill>
                <a:srgbClr val="0f9ed5"/>
              </a:solidFill>
            </a:ln>
          </p:spPr>
        </p:cxnSp>
        <p:sp>
          <p:nvSpPr>
            <p:cNvPr id="103" name="Rectangle 7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271240" y="0"/>
              <a:ext cx="7649280" cy="55317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104" name="Rectangle 7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520" y="317880"/>
            <a:ext cx="10998720" cy="5324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51480" y="317880"/>
            <a:ext cx="10071000" cy="92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Times New Roman"/>
              </a:rPr>
              <a:t>Main objectives of the Study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06" name="Image 25" descr=""/>
          <p:cNvPicPr/>
          <p:nvPr/>
        </p:nvPicPr>
        <p:blipFill>
          <a:blip r:embed="rId1"/>
          <a:stretch/>
        </p:blipFill>
        <p:spPr>
          <a:xfrm>
            <a:off x="2271240" y="5885280"/>
            <a:ext cx="7642800" cy="365760"/>
          </a:xfrm>
          <a:prstGeom prst="rect">
            <a:avLst/>
          </a:prstGeom>
          <a:ln w="0">
            <a:noFill/>
          </a:ln>
        </p:spPr>
      </p:pic>
      <p:pic>
        <p:nvPicPr>
          <p:cNvPr id="107" name="Image 29" descr=""/>
          <p:cNvPicPr/>
          <p:nvPr/>
        </p:nvPicPr>
        <p:blipFill>
          <a:blip r:embed="rId2"/>
          <a:stretch/>
        </p:blipFill>
        <p:spPr>
          <a:xfrm>
            <a:off x="2271240" y="6301080"/>
            <a:ext cx="7642800" cy="572760"/>
          </a:xfrm>
          <a:prstGeom prst="rect">
            <a:avLst/>
          </a:prstGeom>
          <a:ln w="0">
            <a:noFill/>
          </a:ln>
        </p:spPr>
      </p:pic>
      <p:sp>
        <p:nvSpPr>
          <p:cNvPr id="108" name="ZoneTexte 4"/>
          <p:cNvSpPr/>
          <p:nvPr/>
        </p:nvSpPr>
        <p:spPr>
          <a:xfrm>
            <a:off x="596520" y="2859840"/>
            <a:ext cx="4342680" cy="26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1" lang="fr-FR" sz="2000" spc="-1" strike="noStrike">
                <a:solidFill>
                  <a:schemeClr val="dk1"/>
                </a:solidFill>
                <a:latin typeface="Times New Roman"/>
              </a:rPr>
              <a:t>Technical Objective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To develop an improved EEG analysis pipeline for patients with Parkinson’s disease, providing better spatial accuracy and inter-subject anatomical alignement. This can be reused on healthy patients.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ZoneTexte 5"/>
          <p:cNvSpPr/>
          <p:nvPr/>
        </p:nvSpPr>
        <p:spPr>
          <a:xfrm>
            <a:off x="7166160" y="2980440"/>
            <a:ext cx="4342680" cy="20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fr-FR" sz="2000" spc="-1" strike="noStrike">
                <a:solidFill>
                  <a:schemeClr val="dk1"/>
                </a:solidFill>
                <a:latin typeface="Times New Roman"/>
              </a:rPr>
              <a:t>Scientific Objective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To explore whether social motivation can enhance motor performance in a patient with Parkinson’s disease. And replicate the study for healthy patients.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Graphique 7" descr="Outils contour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169720" y="1663560"/>
            <a:ext cx="1195920" cy="1195920"/>
          </a:xfrm>
          <a:prstGeom prst="rect">
            <a:avLst/>
          </a:prstGeom>
          <a:ln w="0">
            <a:noFill/>
          </a:ln>
        </p:spPr>
      </p:pic>
      <p:pic>
        <p:nvPicPr>
          <p:cNvPr id="111" name="Graphique 9" descr="Microscope contour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718120" y="1663200"/>
            <a:ext cx="1195920" cy="1195920"/>
          </a:xfrm>
          <a:prstGeom prst="rect">
            <a:avLst/>
          </a:prstGeom>
          <a:ln w="0">
            <a:noFill/>
          </a:ln>
        </p:spPr>
      </p:pic>
    </p:spTree>
  </p:cSld>
  <p:transition spd="slow">
    <p:fade/>
  </p:transition>
  <p:timing>
    <p:tnLst>
      <p:par>
        <p:cTn id="62" dur="indefinite" restart="never" nodeType="tmRoot">
          <p:childTnLst>
            <p:seq>
              <p:cTn id="63" dur="indefinite" nodeType="mainSeq">
                <p:childTnLst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mage 15" descr=""/>
          <p:cNvPicPr/>
          <p:nvPr/>
        </p:nvPicPr>
        <p:blipFill>
          <a:blip r:embed="rId1"/>
          <a:stretch/>
        </p:blipFill>
        <p:spPr>
          <a:xfrm>
            <a:off x="555480" y="853200"/>
            <a:ext cx="11369160" cy="4497120"/>
          </a:xfrm>
          <a:prstGeom prst="rect">
            <a:avLst/>
          </a:prstGeom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943560" y="91440"/>
            <a:ext cx="5943960" cy="63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fr-FR" sz="4400" spc="-1" strike="noStrike">
                <a:solidFill>
                  <a:schemeClr val="dk1"/>
                </a:solidFill>
                <a:latin typeface="Times New Roman"/>
              </a:rPr>
              <a:t>Precision reaching task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4" name="ZoneTexte 26"/>
          <p:cNvSpPr/>
          <p:nvPr/>
        </p:nvSpPr>
        <p:spPr>
          <a:xfrm>
            <a:off x="8308080" y="4987080"/>
            <a:ext cx="2645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chemeClr val="dk1"/>
                </a:solidFill>
                <a:latin typeface="Times New Roman"/>
              </a:rPr>
              <a:t>Timeline of a typical trial </a:t>
            </a:r>
            <a:r>
              <a:rPr b="0" i="1" lang="en-US" sz="1100" spc="-1" strike="noStrike">
                <a:solidFill>
                  <a:schemeClr val="dk1"/>
                </a:solidFill>
                <a:latin typeface="Times New Roman"/>
              </a:rPr>
              <a:t>[4]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ZoneTexte 28"/>
          <p:cNvSpPr/>
          <p:nvPr/>
        </p:nvSpPr>
        <p:spPr>
          <a:xfrm>
            <a:off x="9939600" y="6603120"/>
            <a:ext cx="2300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fr-FR" sz="1100" spc="-1" strike="noStrike">
                <a:solidFill>
                  <a:schemeClr val="dk1"/>
                </a:solidFill>
                <a:latin typeface="Times New Roman"/>
              </a:rPr>
              <a:t>[4] Cos et al., Research Square, 2021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Image 51" descr=""/>
          <p:cNvPicPr/>
          <p:nvPr/>
        </p:nvPicPr>
        <p:blipFill>
          <a:blip r:embed="rId2"/>
          <a:stretch/>
        </p:blipFill>
        <p:spPr>
          <a:xfrm>
            <a:off x="4528440" y="4779000"/>
            <a:ext cx="2798640" cy="1478520"/>
          </a:xfrm>
          <a:prstGeom prst="rect">
            <a:avLst/>
          </a:prstGeom>
          <a:ln w="0">
            <a:noFill/>
          </a:ln>
        </p:spPr>
      </p:pic>
      <p:sp>
        <p:nvSpPr>
          <p:cNvPr id="117" name="ZoneTexte 53"/>
          <p:cNvSpPr/>
          <p:nvPr/>
        </p:nvSpPr>
        <p:spPr>
          <a:xfrm>
            <a:off x="4553280" y="6257880"/>
            <a:ext cx="289800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chemeClr val="dk1"/>
                </a:solidFill>
                <a:latin typeface="Times New Roman"/>
              </a:rPr>
              <a:t>Geometrical arrangements (T1-Major/T1-Minor) and control configurations (STOP- IN/CROSS-OVER). </a:t>
            </a:r>
            <a:r>
              <a:rPr b="0" i="1" lang="en-US" sz="1100" spc="-1" strike="noStrike">
                <a:solidFill>
                  <a:schemeClr val="dk1"/>
                </a:solidFill>
                <a:latin typeface="Times New Roman"/>
              </a:rPr>
              <a:t>[4]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Image 54" descr=""/>
          <p:cNvPicPr/>
          <p:nvPr/>
        </p:nvPicPr>
        <p:blipFill>
          <a:blip r:embed="rId3"/>
          <a:stretch/>
        </p:blipFill>
        <p:spPr>
          <a:xfrm>
            <a:off x="-75600" y="0"/>
            <a:ext cx="1018800" cy="818640"/>
          </a:xfrm>
          <a:prstGeom prst="rect">
            <a:avLst/>
          </a:prstGeom>
          <a:ln w="0">
            <a:noFill/>
          </a:ln>
        </p:spPr>
      </p:pic>
      <p:pic>
        <p:nvPicPr>
          <p:cNvPr id="119" name="Image 56" descr=""/>
          <p:cNvPicPr/>
          <p:nvPr/>
        </p:nvPicPr>
        <p:blipFill>
          <a:blip r:embed="rId4"/>
          <a:stretch/>
        </p:blipFill>
        <p:spPr>
          <a:xfrm>
            <a:off x="6718680" y="-109440"/>
            <a:ext cx="5520960" cy="818640"/>
          </a:xfrm>
          <a:prstGeom prst="rect">
            <a:avLst/>
          </a:prstGeom>
          <a:ln w="0">
            <a:noFill/>
          </a:ln>
        </p:spPr>
      </p:pic>
      <p:pic>
        <p:nvPicPr>
          <p:cNvPr id="120" name="Image 59" descr=""/>
          <p:cNvPicPr/>
          <p:nvPr/>
        </p:nvPicPr>
        <p:blipFill>
          <a:blip r:embed="rId5"/>
          <a:stretch/>
        </p:blipFill>
        <p:spPr>
          <a:xfrm>
            <a:off x="0" y="3312720"/>
            <a:ext cx="4461120" cy="3544920"/>
          </a:xfrm>
          <a:prstGeom prst="rect">
            <a:avLst/>
          </a:prstGeom>
          <a:ln w="0">
            <a:noFill/>
          </a:ln>
        </p:spPr>
      </p:pic>
    </p:spTree>
  </p:cSld>
  <p:transition spd="slow">
    <p:fade/>
  </p:transition>
  <p:timing>
    <p:tnLst>
      <p:par>
        <p:cTn id="76" dur="indefinite" restart="never" nodeType="tmRoot">
          <p:childTnLst>
            <p:seq>
              <p:cTn id="77" dur="indefinite" nodeType="mainSeq">
                <p:childTnLst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Image 3" descr=""/>
          <p:cNvPicPr/>
          <p:nvPr/>
        </p:nvPicPr>
        <p:blipFill>
          <a:blip r:embed="rId1"/>
          <a:stretch/>
        </p:blipFill>
        <p:spPr>
          <a:xfrm>
            <a:off x="-78840" y="-42840"/>
            <a:ext cx="1125360" cy="904680"/>
          </a:xfrm>
          <a:prstGeom prst="rect">
            <a:avLst/>
          </a:prstGeom>
          <a:ln w="0">
            <a:noFill/>
          </a:ln>
        </p:spPr>
      </p:pic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931680" y="0"/>
            <a:ext cx="7280280" cy="8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fr-FR" sz="4400" spc="-1" strike="noStrike">
                <a:solidFill>
                  <a:schemeClr val="dk1"/>
                </a:solidFill>
                <a:latin typeface="Times New Roman"/>
              </a:rPr>
              <a:t>Pipeline to extract the Signals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23" name="Image 5" descr=""/>
          <p:cNvPicPr/>
          <p:nvPr/>
        </p:nvPicPr>
        <p:blipFill>
          <a:blip r:embed="rId2"/>
          <a:stretch/>
        </p:blipFill>
        <p:spPr>
          <a:xfrm>
            <a:off x="8212320" y="0"/>
            <a:ext cx="4027320" cy="818640"/>
          </a:xfrm>
          <a:prstGeom prst="rect">
            <a:avLst/>
          </a:prstGeom>
          <a:ln w="0">
            <a:noFill/>
          </a:ln>
        </p:spPr>
      </p:pic>
      <p:pic>
        <p:nvPicPr>
          <p:cNvPr id="124" name="Image 9" descr=""/>
          <p:cNvPicPr/>
          <p:nvPr/>
        </p:nvPicPr>
        <p:blipFill>
          <a:blip r:embed="rId3"/>
          <a:stretch/>
        </p:blipFill>
        <p:spPr>
          <a:xfrm>
            <a:off x="762840" y="4907160"/>
            <a:ext cx="3147840" cy="1791000"/>
          </a:xfrm>
          <a:prstGeom prst="rect">
            <a:avLst/>
          </a:prstGeom>
          <a:ln w="0">
            <a:noFill/>
          </a:ln>
        </p:spPr>
      </p:pic>
      <p:pic>
        <p:nvPicPr>
          <p:cNvPr id="125" name="Image 11" descr=""/>
          <p:cNvPicPr/>
          <p:nvPr/>
        </p:nvPicPr>
        <p:blipFill>
          <a:blip r:embed="rId4"/>
          <a:stretch/>
        </p:blipFill>
        <p:spPr>
          <a:xfrm>
            <a:off x="3894840" y="1864800"/>
            <a:ext cx="3170520" cy="1791000"/>
          </a:xfrm>
          <a:prstGeom prst="rect">
            <a:avLst/>
          </a:prstGeom>
          <a:ln w="0">
            <a:noFill/>
          </a:ln>
        </p:spPr>
      </p:pic>
      <p:pic>
        <p:nvPicPr>
          <p:cNvPr id="126" name="Image 13" descr=""/>
          <p:cNvPicPr/>
          <p:nvPr/>
        </p:nvPicPr>
        <p:blipFill>
          <a:blip r:embed="rId5"/>
          <a:stretch/>
        </p:blipFill>
        <p:spPr>
          <a:xfrm>
            <a:off x="4829400" y="4907160"/>
            <a:ext cx="3180960" cy="1791000"/>
          </a:xfrm>
          <a:prstGeom prst="rect">
            <a:avLst/>
          </a:prstGeom>
          <a:ln w="0">
            <a:noFill/>
          </a:ln>
        </p:spPr>
      </p:pic>
      <p:pic>
        <p:nvPicPr>
          <p:cNvPr id="127" name="Image 15" descr=""/>
          <p:cNvPicPr/>
          <p:nvPr/>
        </p:nvPicPr>
        <p:blipFill>
          <a:blip r:embed="rId6"/>
          <a:stretch/>
        </p:blipFill>
        <p:spPr>
          <a:xfrm>
            <a:off x="7977600" y="1864800"/>
            <a:ext cx="3171600" cy="1791000"/>
          </a:xfrm>
          <a:prstGeom prst="rect">
            <a:avLst/>
          </a:prstGeom>
          <a:ln w="0">
            <a:noFill/>
          </a:ln>
        </p:spPr>
      </p:pic>
      <p:cxnSp>
        <p:nvCxnSpPr>
          <p:cNvPr id="128" name="Connecteur droit avec flèche 23"/>
          <p:cNvCxnSpPr>
            <a:stCxn id="129" idx="2"/>
            <a:endCxn id="124" idx="0"/>
          </p:cNvCxnSpPr>
          <p:nvPr/>
        </p:nvCxnSpPr>
        <p:spPr>
          <a:xfrm>
            <a:off x="1684440" y="3636000"/>
            <a:ext cx="652680" cy="127152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30" name="Connecteur droit avec flèche 25"/>
          <p:cNvCxnSpPr>
            <a:stCxn id="124" idx="0"/>
            <a:endCxn id="125" idx="2"/>
          </p:cNvCxnSpPr>
          <p:nvPr/>
        </p:nvCxnSpPr>
        <p:spPr>
          <a:xfrm flipV="1">
            <a:off x="2336760" y="3655800"/>
            <a:ext cx="3143520" cy="125172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31" name="Connecteur droit avec flèche 27"/>
          <p:cNvCxnSpPr>
            <a:stCxn id="125" idx="2"/>
            <a:endCxn id="126" idx="0"/>
          </p:cNvCxnSpPr>
          <p:nvPr/>
        </p:nvCxnSpPr>
        <p:spPr>
          <a:xfrm>
            <a:off x="5479920" y="3655800"/>
            <a:ext cx="940320" cy="125172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32" name="Connecteur droit avec flèche 29"/>
          <p:cNvCxnSpPr>
            <a:stCxn id="126" idx="0"/>
            <a:endCxn id="127" idx="2"/>
          </p:cNvCxnSpPr>
          <p:nvPr/>
        </p:nvCxnSpPr>
        <p:spPr>
          <a:xfrm flipV="1">
            <a:off x="6419880" y="3655800"/>
            <a:ext cx="3143880" cy="125172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33" name="Connecteur droit avec flèche 31"/>
          <p:cNvCxnSpPr>
            <a:stCxn id="127" idx="2"/>
            <a:endCxn id="134" idx="0"/>
          </p:cNvCxnSpPr>
          <p:nvPr/>
        </p:nvCxnSpPr>
        <p:spPr>
          <a:xfrm>
            <a:off x="9563400" y="3655800"/>
            <a:ext cx="651240" cy="124056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sp>
        <p:nvSpPr>
          <p:cNvPr id="135" name="ZoneTexte 32"/>
          <p:cNvSpPr/>
          <p:nvPr/>
        </p:nvSpPr>
        <p:spPr>
          <a:xfrm>
            <a:off x="2557800" y="1039320"/>
            <a:ext cx="7076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2000" spc="-1" strike="noStrike">
                <a:solidFill>
                  <a:schemeClr val="dk1"/>
                </a:solidFill>
                <a:latin typeface="Times New Roman"/>
              </a:rPr>
              <a:t>Part 1 : Classic MNE formating and cleaning sensors’s signals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Image 35" descr=""/>
          <p:cNvPicPr/>
          <p:nvPr/>
        </p:nvPicPr>
        <p:blipFill>
          <a:blip r:embed="rId7"/>
          <a:stretch/>
        </p:blipFill>
        <p:spPr>
          <a:xfrm>
            <a:off x="396360" y="840240"/>
            <a:ext cx="1766160" cy="829080"/>
          </a:xfrm>
          <a:prstGeom prst="rect">
            <a:avLst/>
          </a:prstGeom>
          <a:ln w="0">
            <a:noFill/>
          </a:ln>
        </p:spPr>
      </p:pic>
      <p:pic>
        <p:nvPicPr>
          <p:cNvPr id="137" name="Image 40" descr=""/>
          <p:cNvPicPr/>
          <p:nvPr/>
        </p:nvPicPr>
        <p:blipFill>
          <a:blip r:embed="rId8"/>
          <a:stretch/>
        </p:blipFill>
        <p:spPr>
          <a:xfrm>
            <a:off x="122760" y="1864800"/>
            <a:ext cx="3123720" cy="1771200"/>
          </a:xfrm>
          <a:prstGeom prst="rect">
            <a:avLst/>
          </a:prstGeom>
          <a:ln w="0">
            <a:noFill/>
          </a:ln>
        </p:spPr>
      </p:pic>
      <p:pic>
        <p:nvPicPr>
          <p:cNvPr id="138" name="Image 44" descr=""/>
          <p:cNvPicPr/>
          <p:nvPr/>
        </p:nvPicPr>
        <p:blipFill>
          <a:blip r:embed="rId9"/>
          <a:stretch/>
        </p:blipFill>
        <p:spPr>
          <a:xfrm>
            <a:off x="8623800" y="4896000"/>
            <a:ext cx="3180960" cy="1802520"/>
          </a:xfrm>
          <a:prstGeom prst="rect">
            <a:avLst/>
          </a:prstGeom>
          <a:ln w="0">
            <a:noFill/>
          </a:ln>
        </p:spPr>
      </p:pic>
    </p:spTree>
  </p:cSld>
  <p:transition spd="slow">
    <p:fade/>
  </p:transition>
  <p:timing>
    <p:tnLst>
      <p:par>
        <p:cTn id="98" dur="indefinite" restart="never" nodeType="tmRoot">
          <p:childTnLst>
            <p:seq>
              <p:cTn id="99" dur="indefinite" nodeType="mainSeq">
                <p:childTnLst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Image 3" descr=""/>
          <p:cNvPicPr/>
          <p:nvPr/>
        </p:nvPicPr>
        <p:blipFill>
          <a:blip r:embed="rId1"/>
          <a:stretch/>
        </p:blipFill>
        <p:spPr>
          <a:xfrm>
            <a:off x="-78840" y="-42840"/>
            <a:ext cx="1125360" cy="904680"/>
          </a:xfrm>
          <a:prstGeom prst="rect">
            <a:avLst/>
          </a:prstGeom>
          <a:ln w="0">
            <a:noFill/>
          </a:ln>
        </p:spPr>
      </p:pic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931680" y="0"/>
            <a:ext cx="7280280" cy="8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fr-FR" sz="4400" spc="-1" strike="noStrike">
                <a:solidFill>
                  <a:schemeClr val="dk1"/>
                </a:solidFill>
                <a:latin typeface="Times New Roman"/>
              </a:rPr>
              <a:t>Pipeline to extract the Signals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41" name="Image 5" descr=""/>
          <p:cNvPicPr/>
          <p:nvPr/>
        </p:nvPicPr>
        <p:blipFill>
          <a:blip r:embed="rId2"/>
          <a:stretch/>
        </p:blipFill>
        <p:spPr>
          <a:xfrm>
            <a:off x="8212320" y="0"/>
            <a:ext cx="4027320" cy="818640"/>
          </a:xfrm>
          <a:prstGeom prst="rect">
            <a:avLst/>
          </a:prstGeom>
          <a:ln w="0">
            <a:noFill/>
          </a:ln>
        </p:spPr>
      </p:pic>
      <p:pic>
        <p:nvPicPr>
          <p:cNvPr id="142" name="Image 67" descr=""/>
          <p:cNvPicPr/>
          <p:nvPr/>
        </p:nvPicPr>
        <p:blipFill>
          <a:blip r:embed="rId3"/>
          <a:stretch/>
        </p:blipFill>
        <p:spPr>
          <a:xfrm>
            <a:off x="892440" y="4858200"/>
            <a:ext cx="3038040" cy="1733760"/>
          </a:xfrm>
          <a:prstGeom prst="rect">
            <a:avLst/>
          </a:prstGeom>
          <a:ln w="0">
            <a:noFill/>
          </a:ln>
        </p:spPr>
      </p:pic>
      <p:pic>
        <p:nvPicPr>
          <p:cNvPr id="143" name="Image 69" descr=""/>
          <p:cNvPicPr/>
          <p:nvPr/>
        </p:nvPicPr>
        <p:blipFill>
          <a:blip r:embed="rId4"/>
          <a:stretch/>
        </p:blipFill>
        <p:spPr>
          <a:xfrm>
            <a:off x="4141800" y="2139120"/>
            <a:ext cx="3074040" cy="1733760"/>
          </a:xfrm>
          <a:prstGeom prst="rect">
            <a:avLst/>
          </a:prstGeom>
          <a:ln w="0">
            <a:noFill/>
          </a:ln>
        </p:spPr>
      </p:pic>
      <p:pic>
        <p:nvPicPr>
          <p:cNvPr id="144" name="Image 71" descr=""/>
          <p:cNvPicPr/>
          <p:nvPr/>
        </p:nvPicPr>
        <p:blipFill>
          <a:blip r:embed="rId5"/>
          <a:stretch/>
        </p:blipFill>
        <p:spPr>
          <a:xfrm>
            <a:off x="4771440" y="4853520"/>
            <a:ext cx="3060360" cy="1738440"/>
          </a:xfrm>
          <a:prstGeom prst="rect">
            <a:avLst/>
          </a:prstGeom>
          <a:ln w="0">
            <a:noFill/>
          </a:ln>
        </p:spPr>
      </p:pic>
      <p:pic>
        <p:nvPicPr>
          <p:cNvPr id="145" name="Image 2" descr=""/>
          <p:cNvPicPr/>
          <p:nvPr/>
        </p:nvPicPr>
        <p:blipFill>
          <a:blip r:embed="rId6"/>
          <a:stretch/>
        </p:blipFill>
        <p:spPr>
          <a:xfrm>
            <a:off x="166320" y="2142360"/>
            <a:ext cx="3107520" cy="1733760"/>
          </a:xfrm>
          <a:prstGeom prst="rect">
            <a:avLst/>
          </a:prstGeom>
          <a:ln w="0">
            <a:noFill/>
          </a:ln>
        </p:spPr>
      </p:pic>
      <p:sp>
        <p:nvSpPr>
          <p:cNvPr id="146" name="ZoneTexte 14"/>
          <p:cNvSpPr/>
          <p:nvPr/>
        </p:nvSpPr>
        <p:spPr>
          <a:xfrm>
            <a:off x="4166280" y="1153800"/>
            <a:ext cx="385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2000" spc="-1" strike="noStrike">
                <a:solidFill>
                  <a:schemeClr val="dk1"/>
                </a:solidFill>
                <a:latin typeface="Times New Roman"/>
              </a:rPr>
              <a:t>Part 2 : Source’s space with atlas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Image 21" descr=""/>
          <p:cNvPicPr/>
          <p:nvPr/>
        </p:nvPicPr>
        <p:blipFill>
          <a:blip r:embed="rId7"/>
          <a:stretch/>
        </p:blipFill>
        <p:spPr>
          <a:xfrm>
            <a:off x="8672400" y="4831560"/>
            <a:ext cx="3107520" cy="1782720"/>
          </a:xfrm>
          <a:prstGeom prst="rect">
            <a:avLst/>
          </a:prstGeom>
          <a:ln w="0">
            <a:noFill/>
          </a:ln>
        </p:spPr>
      </p:pic>
      <p:pic>
        <p:nvPicPr>
          <p:cNvPr id="148" name="Image 24" descr=""/>
          <p:cNvPicPr/>
          <p:nvPr/>
        </p:nvPicPr>
        <p:blipFill>
          <a:blip r:embed="rId8"/>
          <a:stretch/>
        </p:blipFill>
        <p:spPr>
          <a:xfrm>
            <a:off x="8083440" y="2134440"/>
            <a:ext cx="3117240" cy="1738440"/>
          </a:xfrm>
          <a:prstGeom prst="rect">
            <a:avLst/>
          </a:prstGeom>
          <a:ln w="0">
            <a:noFill/>
          </a:ln>
        </p:spPr>
      </p:pic>
      <p:cxnSp>
        <p:nvCxnSpPr>
          <p:cNvPr id="149" name="Connecteur droit avec flèche 26"/>
          <p:cNvCxnSpPr>
            <a:stCxn id="145" idx="2"/>
            <a:endCxn id="142" idx="0"/>
          </p:cNvCxnSpPr>
          <p:nvPr/>
        </p:nvCxnSpPr>
        <p:spPr>
          <a:xfrm>
            <a:off x="1720080" y="3876120"/>
            <a:ext cx="691560" cy="98244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50" name="Connecteur droit avec flèche 32"/>
          <p:cNvCxnSpPr>
            <a:stCxn id="143" idx="2"/>
            <a:endCxn id="144" idx="0"/>
          </p:cNvCxnSpPr>
          <p:nvPr/>
        </p:nvCxnSpPr>
        <p:spPr>
          <a:xfrm>
            <a:off x="5678640" y="3872880"/>
            <a:ext cx="623160" cy="98100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51" name="Connecteur droit avec flèche 38"/>
          <p:cNvCxnSpPr>
            <a:stCxn id="148" idx="2"/>
            <a:endCxn id="147" idx="0"/>
          </p:cNvCxnSpPr>
          <p:nvPr/>
        </p:nvCxnSpPr>
        <p:spPr>
          <a:xfrm>
            <a:off x="9641880" y="3872880"/>
            <a:ext cx="584640" cy="95904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52" name="Connecteur droit avec flèche 42"/>
          <p:cNvCxnSpPr>
            <a:stCxn id="142" idx="0"/>
            <a:endCxn id="143" idx="2"/>
          </p:cNvCxnSpPr>
          <p:nvPr/>
        </p:nvCxnSpPr>
        <p:spPr>
          <a:xfrm flipV="1">
            <a:off x="2411280" y="3872880"/>
            <a:ext cx="3267720" cy="98568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53" name="Connecteur droit avec flèche 45"/>
          <p:cNvCxnSpPr>
            <a:stCxn id="144" idx="0"/>
            <a:endCxn id="148" idx="2"/>
          </p:cNvCxnSpPr>
          <p:nvPr/>
        </p:nvCxnSpPr>
        <p:spPr>
          <a:xfrm flipV="1">
            <a:off x="6301440" y="3872880"/>
            <a:ext cx="3340800" cy="98100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</p:spTree>
  </p:cSld>
  <p:transition spd="slow">
    <p:fade/>
  </p:transition>
  <p:timing>
    <p:tnLst>
      <p:par>
        <p:cTn id="144" dur="indefinite" restart="never" nodeType="tmRoot">
          <p:childTnLst>
            <p:seq>
              <p:cTn id="145" dur="indefinite" nodeType="mainSeq">
                <p:childTnLst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ZoneTexte 16"/>
          <p:cNvSpPr/>
          <p:nvPr/>
        </p:nvSpPr>
        <p:spPr>
          <a:xfrm>
            <a:off x="968400" y="66600"/>
            <a:ext cx="79268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Pipeline to decoding the Signals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Image 17" descr=""/>
          <p:cNvPicPr/>
          <p:nvPr/>
        </p:nvPicPr>
        <p:blipFill>
          <a:blip r:embed="rId1"/>
          <a:stretch/>
        </p:blipFill>
        <p:spPr>
          <a:xfrm>
            <a:off x="-78840" y="-32040"/>
            <a:ext cx="1125360" cy="904680"/>
          </a:xfrm>
          <a:prstGeom prst="rect">
            <a:avLst/>
          </a:prstGeom>
          <a:ln w="0">
            <a:noFill/>
          </a:ln>
        </p:spPr>
      </p:pic>
      <p:pic>
        <p:nvPicPr>
          <p:cNvPr id="156" name="Image 18" descr=""/>
          <p:cNvPicPr/>
          <p:nvPr/>
        </p:nvPicPr>
        <p:blipFill>
          <a:blip r:embed="rId2"/>
          <a:stretch/>
        </p:blipFill>
        <p:spPr>
          <a:xfrm>
            <a:off x="8090280" y="10800"/>
            <a:ext cx="4206600" cy="818640"/>
          </a:xfrm>
          <a:prstGeom prst="rect">
            <a:avLst/>
          </a:prstGeom>
          <a:ln w="0">
            <a:noFill/>
          </a:ln>
        </p:spPr>
      </p:pic>
      <p:pic>
        <p:nvPicPr>
          <p:cNvPr id="157" name="Image 8" descr=""/>
          <p:cNvPicPr/>
          <p:nvPr/>
        </p:nvPicPr>
        <p:blipFill>
          <a:blip r:embed="rId3"/>
          <a:stretch/>
        </p:blipFill>
        <p:spPr>
          <a:xfrm>
            <a:off x="0" y="2815560"/>
            <a:ext cx="2991240" cy="1726920"/>
          </a:xfrm>
          <a:prstGeom prst="rect">
            <a:avLst/>
          </a:prstGeom>
          <a:ln w="0">
            <a:noFill/>
          </a:ln>
        </p:spPr>
      </p:pic>
      <p:pic>
        <p:nvPicPr>
          <p:cNvPr id="158" name="Image 13" descr=""/>
          <p:cNvPicPr/>
          <p:nvPr/>
        </p:nvPicPr>
        <p:blipFill>
          <a:blip r:embed="rId4"/>
          <a:stretch/>
        </p:blipFill>
        <p:spPr>
          <a:xfrm>
            <a:off x="3795840" y="2834280"/>
            <a:ext cx="2991240" cy="1688400"/>
          </a:xfrm>
          <a:prstGeom prst="rect">
            <a:avLst/>
          </a:prstGeom>
          <a:ln w="0">
            <a:noFill/>
          </a:ln>
        </p:spPr>
      </p:pic>
      <p:pic>
        <p:nvPicPr>
          <p:cNvPr id="159" name="Image 19" descr=""/>
          <p:cNvPicPr/>
          <p:nvPr/>
        </p:nvPicPr>
        <p:blipFill>
          <a:blip r:embed="rId5"/>
          <a:stretch/>
        </p:blipFill>
        <p:spPr>
          <a:xfrm>
            <a:off x="6404040" y="941400"/>
            <a:ext cx="2991240" cy="1707120"/>
          </a:xfrm>
          <a:prstGeom prst="rect">
            <a:avLst/>
          </a:prstGeom>
          <a:ln w="0">
            <a:noFill/>
          </a:ln>
        </p:spPr>
      </p:pic>
      <p:pic>
        <p:nvPicPr>
          <p:cNvPr id="160" name="Image 24" descr=""/>
          <p:cNvPicPr/>
          <p:nvPr/>
        </p:nvPicPr>
        <p:blipFill>
          <a:blip r:embed="rId6"/>
          <a:stretch/>
        </p:blipFill>
        <p:spPr>
          <a:xfrm>
            <a:off x="6404040" y="4708800"/>
            <a:ext cx="2991240" cy="1680120"/>
          </a:xfrm>
          <a:prstGeom prst="rect">
            <a:avLst/>
          </a:prstGeom>
          <a:ln w="0">
            <a:noFill/>
          </a:ln>
        </p:spPr>
      </p:pic>
      <p:pic>
        <p:nvPicPr>
          <p:cNvPr id="161" name="Image 28" descr=""/>
          <p:cNvPicPr/>
          <p:nvPr/>
        </p:nvPicPr>
        <p:blipFill>
          <a:blip r:embed="rId7"/>
          <a:stretch/>
        </p:blipFill>
        <p:spPr>
          <a:xfrm>
            <a:off x="9087840" y="2847240"/>
            <a:ext cx="2991240" cy="1695600"/>
          </a:xfrm>
          <a:prstGeom prst="rect">
            <a:avLst/>
          </a:prstGeom>
          <a:ln w="0">
            <a:noFill/>
          </a:ln>
        </p:spPr>
      </p:pic>
      <p:cxnSp>
        <p:nvCxnSpPr>
          <p:cNvPr id="162" name="Connecteur droit avec flèche 30"/>
          <p:cNvCxnSpPr>
            <a:stCxn id="157" idx="3"/>
            <a:endCxn id="158" idx="1"/>
          </p:cNvCxnSpPr>
          <p:nvPr/>
        </p:nvCxnSpPr>
        <p:spPr>
          <a:xfrm flipV="1">
            <a:off x="2991240" y="3678480"/>
            <a:ext cx="804960" cy="72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63" name="Connecteur droit avec flèche 32"/>
          <p:cNvCxnSpPr>
            <a:stCxn id="158" idx="0"/>
            <a:endCxn id="159" idx="1"/>
          </p:cNvCxnSpPr>
          <p:nvPr/>
        </p:nvCxnSpPr>
        <p:spPr>
          <a:xfrm flipV="1">
            <a:off x="5291280" y="1794960"/>
            <a:ext cx="1113120" cy="103968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64" name="Connecteur droit avec flèche 33"/>
          <p:cNvCxnSpPr>
            <a:stCxn id="158" idx="2"/>
            <a:endCxn id="160" idx="1"/>
          </p:cNvCxnSpPr>
          <p:nvPr/>
        </p:nvCxnSpPr>
        <p:spPr>
          <a:xfrm>
            <a:off x="5291280" y="4522680"/>
            <a:ext cx="1113120" cy="102636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65" name="Connecteur droit avec flèche 36"/>
          <p:cNvCxnSpPr>
            <a:stCxn id="159" idx="3"/>
            <a:endCxn id="161" idx="0"/>
          </p:cNvCxnSpPr>
          <p:nvPr/>
        </p:nvCxnSpPr>
        <p:spPr>
          <a:xfrm>
            <a:off x="9395280" y="1794960"/>
            <a:ext cx="1188360" cy="105264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66" name="Connecteur droit avec flèche 39"/>
          <p:cNvCxnSpPr>
            <a:stCxn id="160" idx="3"/>
            <a:endCxn id="161" idx="2"/>
          </p:cNvCxnSpPr>
          <p:nvPr/>
        </p:nvCxnSpPr>
        <p:spPr>
          <a:xfrm flipV="1">
            <a:off x="9395280" y="4542840"/>
            <a:ext cx="1188360" cy="100620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</p:spTree>
  </p:cSld>
  <p:transition spd="slow">
    <p:fade/>
  </p:transition>
  <p:timing>
    <p:tnLst>
      <p:par>
        <p:cTn id="190" dur="indefinite" restart="never" nodeType="tmRoot">
          <p:childTnLst>
            <p:seq>
              <p:cTn id="191" dur="indefinite" nodeType="mainSeq">
                <p:childTnLst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ZoneTexte 5"/>
          <p:cNvSpPr/>
          <p:nvPr/>
        </p:nvSpPr>
        <p:spPr>
          <a:xfrm>
            <a:off x="2979000" y="-152280"/>
            <a:ext cx="623340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Results : 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Biomarkers Sensor’s space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Image 6" descr=""/>
          <p:cNvPicPr/>
          <p:nvPr/>
        </p:nvPicPr>
        <p:blipFill>
          <a:blip r:embed="rId1"/>
          <a:stretch/>
        </p:blipFill>
        <p:spPr>
          <a:xfrm>
            <a:off x="0" y="0"/>
            <a:ext cx="3085920" cy="1055160"/>
          </a:xfrm>
          <a:prstGeom prst="rect">
            <a:avLst/>
          </a:prstGeom>
          <a:ln w="0">
            <a:noFill/>
          </a:ln>
        </p:spPr>
      </p:pic>
      <p:pic>
        <p:nvPicPr>
          <p:cNvPr id="169" name="Image 7" descr=""/>
          <p:cNvPicPr/>
          <p:nvPr/>
        </p:nvPicPr>
        <p:blipFill>
          <a:blip r:embed="rId2"/>
          <a:stretch/>
        </p:blipFill>
        <p:spPr>
          <a:xfrm>
            <a:off x="9105840" y="0"/>
            <a:ext cx="3085920" cy="1055160"/>
          </a:xfrm>
          <a:prstGeom prst="rect">
            <a:avLst/>
          </a:prstGeom>
          <a:ln w="0">
            <a:noFill/>
          </a:ln>
        </p:spPr>
      </p:pic>
      <p:sp>
        <p:nvSpPr>
          <p:cNvPr id="170" name="ZoneTexte 8"/>
          <p:cNvSpPr/>
          <p:nvPr/>
        </p:nvSpPr>
        <p:spPr>
          <a:xfrm>
            <a:off x="211680" y="1101960"/>
            <a:ext cx="3890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fr-FR" sz="2000" spc="-1" strike="noStrike">
                <a:solidFill>
                  <a:schemeClr val="dk1"/>
                </a:solidFill>
                <a:latin typeface="Times New Roman"/>
              </a:rPr>
              <a:t>MLR decoding on Power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ZoneTexte 9"/>
          <p:cNvSpPr/>
          <p:nvPr/>
        </p:nvSpPr>
        <p:spPr>
          <a:xfrm>
            <a:off x="8200800" y="1129320"/>
            <a:ext cx="3800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fr-FR" sz="2000" spc="-1" strike="noStrike">
                <a:solidFill>
                  <a:schemeClr val="dk1"/>
                </a:solidFill>
                <a:latin typeface="Times New Roman"/>
              </a:rPr>
              <a:t>MLR decoding on Correlation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ZoneTexte 19"/>
          <p:cNvSpPr/>
          <p:nvPr/>
        </p:nvSpPr>
        <p:spPr>
          <a:xfrm>
            <a:off x="5913720" y="1216440"/>
            <a:ext cx="47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fr-FR" sz="1800" spc="-1" strike="noStrike">
                <a:solidFill>
                  <a:schemeClr val="dk1"/>
                </a:solidFill>
                <a:latin typeface="Times New Roman"/>
              </a:rPr>
              <a:t>VS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Image 2" descr=""/>
          <p:cNvPicPr/>
          <p:nvPr/>
        </p:nvPicPr>
        <p:blipFill>
          <a:blip r:embed="rId3"/>
          <a:stretch/>
        </p:blipFill>
        <p:spPr>
          <a:xfrm>
            <a:off x="257040" y="1529280"/>
            <a:ext cx="11677680" cy="2633040"/>
          </a:xfrm>
          <a:prstGeom prst="rect">
            <a:avLst/>
          </a:prstGeom>
          <a:ln w="0">
            <a:noFill/>
          </a:ln>
        </p:spPr>
      </p:pic>
      <p:pic>
        <p:nvPicPr>
          <p:cNvPr id="174" name="Image 4" descr=""/>
          <p:cNvPicPr/>
          <p:nvPr/>
        </p:nvPicPr>
        <p:blipFill>
          <a:blip r:embed="rId4"/>
          <a:stretch/>
        </p:blipFill>
        <p:spPr>
          <a:xfrm>
            <a:off x="188640" y="4227840"/>
            <a:ext cx="11814120" cy="2629800"/>
          </a:xfrm>
          <a:prstGeom prst="rect">
            <a:avLst/>
          </a:prstGeom>
          <a:ln w="0">
            <a:noFill/>
          </a:ln>
        </p:spPr>
      </p:pic>
      <p:sp>
        <p:nvSpPr>
          <p:cNvPr id="175" name="ZoneTexte 18"/>
          <p:cNvSpPr/>
          <p:nvPr/>
        </p:nvSpPr>
        <p:spPr>
          <a:xfrm>
            <a:off x="4145040" y="2772720"/>
            <a:ext cx="3901680" cy="29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Gamma &gt; Beta &gt; Alpha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Gamma band most predictive of motivational state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Similar accuracy for each movement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Lower overall performance in correlation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/>
  </p:transition>
  <p:timing>
    <p:tnLst>
      <p:par>
        <p:cTn id="232" dur="indefinite" restart="never" nodeType="tmRoot">
          <p:childTnLst>
            <p:seq>
              <p:cTn id="233" dur="indefinite" nodeType="mainSeq">
                <p:childTnLst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ZoneTexte 5"/>
          <p:cNvSpPr/>
          <p:nvPr/>
        </p:nvSpPr>
        <p:spPr>
          <a:xfrm>
            <a:off x="2979000" y="-152280"/>
            <a:ext cx="623340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Results : 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Biomarkers Sensor’s space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Image 6" descr=""/>
          <p:cNvPicPr/>
          <p:nvPr/>
        </p:nvPicPr>
        <p:blipFill>
          <a:blip r:embed="rId1"/>
          <a:stretch/>
        </p:blipFill>
        <p:spPr>
          <a:xfrm>
            <a:off x="0" y="0"/>
            <a:ext cx="3085920" cy="1055160"/>
          </a:xfrm>
          <a:prstGeom prst="rect">
            <a:avLst/>
          </a:prstGeom>
          <a:ln w="0">
            <a:noFill/>
          </a:ln>
        </p:spPr>
      </p:pic>
      <p:pic>
        <p:nvPicPr>
          <p:cNvPr id="178" name="Image 7" descr=""/>
          <p:cNvPicPr/>
          <p:nvPr/>
        </p:nvPicPr>
        <p:blipFill>
          <a:blip r:embed="rId2"/>
          <a:stretch/>
        </p:blipFill>
        <p:spPr>
          <a:xfrm>
            <a:off x="9105840" y="0"/>
            <a:ext cx="3085920" cy="1055160"/>
          </a:xfrm>
          <a:prstGeom prst="rect">
            <a:avLst/>
          </a:prstGeom>
          <a:ln w="0">
            <a:noFill/>
          </a:ln>
        </p:spPr>
      </p:pic>
      <p:pic>
        <p:nvPicPr>
          <p:cNvPr id="179" name="Image 11" descr=""/>
          <p:cNvPicPr/>
          <p:nvPr/>
        </p:nvPicPr>
        <p:blipFill>
          <a:blip r:embed="rId3"/>
          <a:stretch/>
        </p:blipFill>
        <p:spPr>
          <a:xfrm>
            <a:off x="4134240" y="2416320"/>
            <a:ext cx="3923280" cy="2017080"/>
          </a:xfrm>
          <a:prstGeom prst="rect">
            <a:avLst/>
          </a:prstGeom>
          <a:ln w="0">
            <a:noFill/>
          </a:ln>
        </p:spPr>
      </p:pic>
      <p:pic>
        <p:nvPicPr>
          <p:cNvPr id="180" name="Image 13" descr=""/>
          <p:cNvPicPr/>
          <p:nvPr/>
        </p:nvPicPr>
        <p:blipFill>
          <a:blip r:embed="rId4"/>
          <a:stretch/>
        </p:blipFill>
        <p:spPr>
          <a:xfrm>
            <a:off x="8268120" y="2416320"/>
            <a:ext cx="3923280" cy="2013120"/>
          </a:xfrm>
          <a:prstGeom prst="rect">
            <a:avLst/>
          </a:prstGeom>
          <a:ln w="0">
            <a:noFill/>
          </a:ln>
        </p:spPr>
      </p:pic>
      <p:pic>
        <p:nvPicPr>
          <p:cNvPr id="181" name="Image 15" descr=""/>
          <p:cNvPicPr/>
          <p:nvPr/>
        </p:nvPicPr>
        <p:blipFill>
          <a:blip r:embed="rId5"/>
          <a:stretch/>
        </p:blipFill>
        <p:spPr>
          <a:xfrm>
            <a:off x="0" y="2416320"/>
            <a:ext cx="3923280" cy="2025360"/>
          </a:xfrm>
          <a:prstGeom prst="rect">
            <a:avLst/>
          </a:prstGeom>
          <a:ln w="0">
            <a:noFill/>
          </a:ln>
        </p:spPr>
      </p:pic>
      <p:sp>
        <p:nvSpPr>
          <p:cNvPr id="182" name="ZoneTexte 16"/>
          <p:cNvSpPr/>
          <p:nvPr/>
        </p:nvSpPr>
        <p:spPr>
          <a:xfrm>
            <a:off x="1597320" y="1908720"/>
            <a:ext cx="72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Times New Roman"/>
              </a:rPr>
              <a:t>MLR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ZoneTexte 17"/>
          <p:cNvSpPr/>
          <p:nvPr/>
        </p:nvSpPr>
        <p:spPr>
          <a:xfrm>
            <a:off x="5731200" y="1908720"/>
            <a:ext cx="72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Times New Roman"/>
              </a:rPr>
              <a:t>kNN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ZoneTexte 20"/>
          <p:cNvSpPr/>
          <p:nvPr/>
        </p:nvSpPr>
        <p:spPr>
          <a:xfrm>
            <a:off x="9961200" y="1908720"/>
            <a:ext cx="53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Times New Roman"/>
              </a:rPr>
              <a:t>RF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ZoneTexte 21"/>
          <p:cNvSpPr/>
          <p:nvPr/>
        </p:nvSpPr>
        <p:spPr>
          <a:xfrm>
            <a:off x="5109840" y="1470240"/>
            <a:ext cx="1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Times New Roman"/>
              </a:rPr>
              <a:t>Stop-In on Power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ZoneTexte 22"/>
          <p:cNvSpPr/>
          <p:nvPr/>
        </p:nvSpPr>
        <p:spPr>
          <a:xfrm>
            <a:off x="2979000" y="5010120"/>
            <a:ext cx="62334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MLR and RF better accuracy than kNN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Using MLR because linear analysis and simpler than RF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/>
  </p:transition>
  <p:timing>
    <p:tnLst>
      <p:par>
        <p:cTn id="258" dur="indefinite" restart="never" nodeType="tmRoot">
          <p:childTnLst>
            <p:seq>
              <p:cTn id="259" dur="indefinite" nodeType="mainSeq">
                <p:childTnLst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4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5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1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6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7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ZoneTexte 5"/>
          <p:cNvSpPr/>
          <p:nvPr/>
        </p:nvSpPr>
        <p:spPr>
          <a:xfrm>
            <a:off x="2979000" y="-152280"/>
            <a:ext cx="623340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Results : 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Biomarkers Sensor’s space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Image 6" descr=""/>
          <p:cNvPicPr/>
          <p:nvPr/>
        </p:nvPicPr>
        <p:blipFill>
          <a:blip r:embed="rId1"/>
          <a:stretch/>
        </p:blipFill>
        <p:spPr>
          <a:xfrm>
            <a:off x="0" y="0"/>
            <a:ext cx="3085920" cy="1055160"/>
          </a:xfrm>
          <a:prstGeom prst="rect">
            <a:avLst/>
          </a:prstGeom>
          <a:ln w="0">
            <a:noFill/>
          </a:ln>
        </p:spPr>
      </p:pic>
      <p:pic>
        <p:nvPicPr>
          <p:cNvPr id="189" name="Image 7" descr=""/>
          <p:cNvPicPr/>
          <p:nvPr/>
        </p:nvPicPr>
        <p:blipFill>
          <a:blip r:embed="rId2"/>
          <a:stretch/>
        </p:blipFill>
        <p:spPr>
          <a:xfrm>
            <a:off x="9105840" y="0"/>
            <a:ext cx="3085920" cy="1055160"/>
          </a:xfrm>
          <a:prstGeom prst="rect">
            <a:avLst/>
          </a:prstGeom>
          <a:ln w="0">
            <a:noFill/>
          </a:ln>
        </p:spPr>
      </p:pic>
      <p:sp>
        <p:nvSpPr>
          <p:cNvPr id="190" name="ZoneTexte 63"/>
          <p:cNvSpPr/>
          <p:nvPr/>
        </p:nvSpPr>
        <p:spPr>
          <a:xfrm>
            <a:off x="150480" y="6345000"/>
            <a:ext cx="3853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chemeClr val="dk1"/>
                </a:solidFill>
                <a:latin typeface="Times New Roman"/>
              </a:rPr>
              <a:t>The spatial distribution of the most significant electrodes with the top-performing electrodes highlighted in red.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ZoneTexte 71"/>
          <p:cNvSpPr/>
          <p:nvPr/>
        </p:nvSpPr>
        <p:spPr>
          <a:xfrm>
            <a:off x="8675640" y="6345000"/>
            <a:ext cx="28771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chemeClr val="dk1"/>
                </a:solidFill>
                <a:latin typeface="Times New Roman"/>
              </a:rPr>
              <a:t>Functional connectivity patterns between the most informative electrode pairs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ZoneTexte 77"/>
          <p:cNvSpPr/>
          <p:nvPr/>
        </p:nvSpPr>
        <p:spPr>
          <a:xfrm>
            <a:off x="4004640" y="2072880"/>
            <a:ext cx="4380480" cy="357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Making RFE on Gamma band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Central and posterior regions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Notable pairs : EEG68 – EEG17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Motor control (frontal/parietal areas)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Attention networks (temporal regions)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Visiomotor integration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Sensorimotor planning for fluid motion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Image 2" descr=""/>
          <p:cNvPicPr/>
          <p:nvPr/>
        </p:nvPicPr>
        <p:blipFill>
          <a:blip r:embed="rId3"/>
          <a:stretch/>
        </p:blipFill>
        <p:spPr>
          <a:xfrm>
            <a:off x="219600" y="1835640"/>
            <a:ext cx="3715200" cy="4169160"/>
          </a:xfrm>
          <a:prstGeom prst="rect">
            <a:avLst/>
          </a:prstGeom>
          <a:ln w="0">
            <a:noFill/>
          </a:ln>
        </p:spPr>
      </p:pic>
      <p:pic>
        <p:nvPicPr>
          <p:cNvPr id="194" name="Image 4" descr=""/>
          <p:cNvPicPr/>
          <p:nvPr/>
        </p:nvPicPr>
        <p:blipFill>
          <a:blip r:embed="rId4"/>
          <a:stretch/>
        </p:blipFill>
        <p:spPr>
          <a:xfrm>
            <a:off x="8316000" y="1835640"/>
            <a:ext cx="3596400" cy="4169160"/>
          </a:xfrm>
          <a:prstGeom prst="rect">
            <a:avLst/>
          </a:prstGeom>
          <a:ln w="0">
            <a:noFill/>
          </a:ln>
        </p:spPr>
      </p:pic>
    </p:spTree>
  </p:cSld>
  <p:transition spd="slow">
    <p:fade/>
  </p:transition>
  <p:timing>
    <p:tnLst>
      <p:par>
        <p:cTn id="282" dur="indefinite" restart="never" nodeType="tmRoot">
          <p:childTnLst>
            <p:seq>
              <p:cTn id="283" dur="indefinite" nodeType="mainSeq">
                <p:childTnLst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ZoneTexte 3"/>
          <p:cNvSpPr/>
          <p:nvPr/>
        </p:nvSpPr>
        <p:spPr>
          <a:xfrm>
            <a:off x="2979000" y="-180000"/>
            <a:ext cx="623340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Results :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Biomarkers Source’s space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Image 4" descr=""/>
          <p:cNvPicPr/>
          <p:nvPr/>
        </p:nvPicPr>
        <p:blipFill>
          <a:blip r:embed="rId1"/>
          <a:stretch/>
        </p:blipFill>
        <p:spPr>
          <a:xfrm>
            <a:off x="0" y="0"/>
            <a:ext cx="3085920" cy="1055160"/>
          </a:xfrm>
          <a:prstGeom prst="rect">
            <a:avLst/>
          </a:prstGeom>
          <a:ln w="0">
            <a:noFill/>
          </a:ln>
        </p:spPr>
      </p:pic>
      <p:pic>
        <p:nvPicPr>
          <p:cNvPr id="197" name="Image 5" descr=""/>
          <p:cNvPicPr/>
          <p:nvPr/>
        </p:nvPicPr>
        <p:blipFill>
          <a:blip r:embed="rId2"/>
          <a:stretch/>
        </p:blipFill>
        <p:spPr>
          <a:xfrm>
            <a:off x="9212760" y="0"/>
            <a:ext cx="2978640" cy="1055160"/>
          </a:xfrm>
          <a:prstGeom prst="rect">
            <a:avLst/>
          </a:prstGeom>
          <a:ln w="0">
            <a:noFill/>
          </a:ln>
        </p:spPr>
      </p:pic>
      <p:sp>
        <p:nvSpPr>
          <p:cNvPr id="198" name="ZoneTexte 14"/>
          <p:cNvSpPr/>
          <p:nvPr/>
        </p:nvSpPr>
        <p:spPr>
          <a:xfrm>
            <a:off x="1495440" y="1198080"/>
            <a:ext cx="2670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Times New Roman"/>
              </a:rPr>
              <a:t>MLR decoding on Power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ZoneTexte 15"/>
          <p:cNvSpPr/>
          <p:nvPr/>
        </p:nvSpPr>
        <p:spPr>
          <a:xfrm>
            <a:off x="7508880" y="1198080"/>
            <a:ext cx="370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Times New Roman"/>
              </a:rPr>
              <a:t>MLR decoding on Coherency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ZoneTexte 16"/>
          <p:cNvSpPr/>
          <p:nvPr/>
        </p:nvSpPr>
        <p:spPr>
          <a:xfrm>
            <a:off x="5852520" y="1382400"/>
            <a:ext cx="875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fr-FR" sz="1800" spc="-1" strike="noStrike">
                <a:solidFill>
                  <a:schemeClr val="dk1"/>
                </a:solidFill>
                <a:latin typeface="Times New Roman"/>
              </a:rPr>
              <a:t>VS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ZoneTexte 18"/>
          <p:cNvSpPr/>
          <p:nvPr/>
        </p:nvSpPr>
        <p:spPr>
          <a:xfrm>
            <a:off x="349200" y="5443920"/>
            <a:ext cx="4962240" cy="17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Gamma &gt; Beta &gt; Alpha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Gamma band highly informative for motivational decoding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 24"/>
          <p:cNvSpPr/>
          <p:nvPr/>
        </p:nvSpPr>
        <p:spPr>
          <a:xfrm>
            <a:off x="3547440" y="4829040"/>
            <a:ext cx="749880" cy="16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03" name="Ellipse 28"/>
          <p:cNvSpPr/>
          <p:nvPr/>
        </p:nvSpPr>
        <p:spPr>
          <a:xfrm>
            <a:off x="3731760" y="4910040"/>
            <a:ext cx="749880" cy="22788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pic>
        <p:nvPicPr>
          <p:cNvPr id="204" name="Image 19" descr=""/>
          <p:cNvPicPr/>
          <p:nvPr/>
        </p:nvPicPr>
        <p:blipFill>
          <a:blip r:embed="rId3"/>
          <a:srcRect l="0" t="0" r="1451" b="0"/>
          <a:stretch/>
        </p:blipFill>
        <p:spPr>
          <a:xfrm>
            <a:off x="349200" y="1709640"/>
            <a:ext cx="4890240" cy="3438000"/>
          </a:xfrm>
          <a:prstGeom prst="rect">
            <a:avLst/>
          </a:prstGeom>
          <a:ln w="0">
            <a:noFill/>
          </a:ln>
        </p:spPr>
      </p:pic>
      <p:pic>
        <p:nvPicPr>
          <p:cNvPr id="205" name="Image 22" descr=""/>
          <p:cNvPicPr/>
          <p:nvPr/>
        </p:nvPicPr>
        <p:blipFill>
          <a:blip r:embed="rId4"/>
          <a:srcRect l="0" t="0" r="1449" b="0"/>
          <a:stretch/>
        </p:blipFill>
        <p:spPr>
          <a:xfrm>
            <a:off x="6880320" y="1709640"/>
            <a:ext cx="4890240" cy="3421440"/>
          </a:xfrm>
          <a:prstGeom prst="rect">
            <a:avLst/>
          </a:prstGeom>
          <a:ln w="0">
            <a:noFill/>
          </a:ln>
        </p:spPr>
      </p:pic>
      <p:sp>
        <p:nvSpPr>
          <p:cNvPr id="206" name="ZoneTexte 29"/>
          <p:cNvSpPr/>
          <p:nvPr/>
        </p:nvSpPr>
        <p:spPr>
          <a:xfrm>
            <a:off x="6880320" y="5452920"/>
            <a:ext cx="4962240" cy="11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600" spc="-1" strike="noStrike">
                <a:solidFill>
                  <a:schemeClr val="dk1"/>
                </a:solidFill>
                <a:latin typeface="Times New Roman"/>
              </a:rPr>
              <a:t>Power of source better than correlation like in sensor’s space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600" spc="-1" strike="noStrike">
                <a:solidFill>
                  <a:schemeClr val="dk1"/>
                </a:solidFill>
                <a:latin typeface="Times New Roman"/>
              </a:rPr>
              <a:t>More variability in source’s space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/>
  </p:transition>
  <p:timing>
    <p:tnLst>
      <p:par>
        <p:cTn id="304" dur="indefinite" restart="never" nodeType="tmRoot">
          <p:childTnLst>
            <p:seq>
              <p:cTn id="305" dur="indefinite" nodeType="mainSeq">
                <p:childTnLst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0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1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6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7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2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3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8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9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ZoneTexte 3"/>
          <p:cNvSpPr/>
          <p:nvPr/>
        </p:nvSpPr>
        <p:spPr>
          <a:xfrm>
            <a:off x="2979000" y="-180000"/>
            <a:ext cx="623340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Results :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1" lang="fr-FR" sz="4000" spc="-1" strike="noStrike">
                <a:solidFill>
                  <a:schemeClr val="dk1"/>
                </a:solidFill>
                <a:latin typeface="Times New Roman"/>
              </a:rPr>
              <a:t>Biomarkers Source’s space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Image 4" descr=""/>
          <p:cNvPicPr/>
          <p:nvPr/>
        </p:nvPicPr>
        <p:blipFill>
          <a:blip r:embed="rId1"/>
          <a:stretch/>
        </p:blipFill>
        <p:spPr>
          <a:xfrm>
            <a:off x="0" y="0"/>
            <a:ext cx="3085920" cy="1055160"/>
          </a:xfrm>
          <a:prstGeom prst="rect">
            <a:avLst/>
          </a:prstGeom>
          <a:ln w="0">
            <a:noFill/>
          </a:ln>
        </p:spPr>
      </p:pic>
      <p:pic>
        <p:nvPicPr>
          <p:cNvPr id="209" name="Image 5" descr=""/>
          <p:cNvPicPr/>
          <p:nvPr/>
        </p:nvPicPr>
        <p:blipFill>
          <a:blip r:embed="rId2"/>
          <a:stretch/>
        </p:blipFill>
        <p:spPr>
          <a:xfrm>
            <a:off x="9105840" y="0"/>
            <a:ext cx="3085920" cy="1055160"/>
          </a:xfrm>
          <a:prstGeom prst="rect">
            <a:avLst/>
          </a:prstGeom>
          <a:ln w="0">
            <a:noFill/>
          </a:ln>
        </p:spPr>
      </p:pic>
      <p:sp>
        <p:nvSpPr>
          <p:cNvPr id="210" name="Ellipse 28"/>
          <p:cNvSpPr/>
          <p:nvPr/>
        </p:nvSpPr>
        <p:spPr>
          <a:xfrm>
            <a:off x="3731760" y="4910040"/>
            <a:ext cx="749880" cy="22788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11" name="ZoneTexte 1"/>
          <p:cNvSpPr/>
          <p:nvPr/>
        </p:nvSpPr>
        <p:spPr>
          <a:xfrm>
            <a:off x="7792200" y="1346040"/>
            <a:ext cx="390708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Motor &amp; premotor control = cingulate cortex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High-level motivation modulation = frontmarginal gyrus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Sensory-integration &amp; awareness = insula girus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Image 6" descr=""/>
          <p:cNvPicPr/>
          <p:nvPr/>
        </p:nvPicPr>
        <p:blipFill>
          <a:blip r:embed="rId3"/>
          <a:stretch/>
        </p:blipFill>
        <p:spPr>
          <a:xfrm>
            <a:off x="303480" y="1082880"/>
            <a:ext cx="7001640" cy="2919600"/>
          </a:xfrm>
          <a:prstGeom prst="rect">
            <a:avLst/>
          </a:prstGeom>
          <a:ln w="0">
            <a:noFill/>
          </a:ln>
        </p:spPr>
      </p:pic>
      <p:pic>
        <p:nvPicPr>
          <p:cNvPr id="213" name="Image 10" descr=""/>
          <p:cNvPicPr/>
          <p:nvPr/>
        </p:nvPicPr>
        <p:blipFill>
          <a:blip r:embed="rId4"/>
          <a:stretch/>
        </p:blipFill>
        <p:spPr>
          <a:xfrm>
            <a:off x="487080" y="4027680"/>
            <a:ext cx="6633720" cy="2697840"/>
          </a:xfrm>
          <a:prstGeom prst="rect">
            <a:avLst/>
          </a:prstGeom>
          <a:ln w="0">
            <a:noFill/>
          </a:ln>
        </p:spPr>
      </p:pic>
      <p:sp>
        <p:nvSpPr>
          <p:cNvPr id="214" name="ZoneTexte 12"/>
          <p:cNvSpPr/>
          <p:nvPr/>
        </p:nvSpPr>
        <p:spPr>
          <a:xfrm>
            <a:off x="-20520" y="6619680"/>
            <a:ext cx="9304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chemeClr val="dk1"/>
                </a:solidFill>
                <a:latin typeface="Times New Roman"/>
              </a:rPr>
              <a:t>The spatial distribution of the most significant electrodes with the top-performing electrodes highlighted in red. A : STOP-IN. B:PUNCH-TROUGH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ZoneTexte 17"/>
          <p:cNvSpPr/>
          <p:nvPr/>
        </p:nvSpPr>
        <p:spPr>
          <a:xfrm>
            <a:off x="1580040" y="3927600"/>
            <a:ext cx="4303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100" spc="-1" strike="noStrike">
                <a:solidFill>
                  <a:schemeClr val="dk1"/>
                </a:solidFill>
                <a:latin typeface="Times New Roman"/>
              </a:rPr>
              <a:t>Ten ROIs for each movement. A:STOP-IN. B:PUNCH-TROUGH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ectangle 1"/>
          <p:cNvSpPr/>
          <p:nvPr/>
        </p:nvSpPr>
        <p:spPr>
          <a:xfrm>
            <a:off x="7792200" y="4069800"/>
            <a:ext cx="451152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Higher spatial precision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Closer to neural sources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Anatomically meaningful analysis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/>
  </p:transition>
  <p:timing>
    <p:tnLst>
      <p:par>
        <p:cTn id="350" dur="indefinite" restart="never" nodeType="tmRoot">
          <p:childTnLst>
            <p:seq>
              <p:cTn id="351" dur="indefinite" nodeType="mainSeq">
                <p:childTnLst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7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9059040" y="2005560"/>
            <a:ext cx="2855520" cy="284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Times New Roman"/>
              </a:rPr>
              <a:t>Results </a:t>
            </a:r>
            <a:br>
              <a:rPr sz="4400"/>
            </a:br>
            <a:r>
              <a:rPr b="1" lang="en-US" sz="4400" spc="-1" strike="noStrike">
                <a:solidFill>
                  <a:schemeClr val="dk1"/>
                </a:solidFill>
                <a:latin typeface="Times New Roman"/>
              </a:rPr>
              <a:t>Summary</a:t>
            </a: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9" name="Rectangl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434040" y="-826560"/>
            <a:ext cx="1715040" cy="8583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20" name="Rectangl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2040" y="664200"/>
            <a:ext cx="8082360" cy="5600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21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950960" y="3392280"/>
            <a:ext cx="1718640" cy="15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22" name="ZoneTexte 2"/>
          <p:cNvSpPr/>
          <p:nvPr/>
        </p:nvSpPr>
        <p:spPr>
          <a:xfrm>
            <a:off x="302040" y="795960"/>
            <a:ext cx="80823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     </a:t>
            </a: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New MNE-Python pipeline with source reconstruction improves spatial accuracy, reaching up to 90% accuracy in detecting motivation states.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ZoneTexte 3"/>
          <p:cNvSpPr/>
          <p:nvPr/>
        </p:nvSpPr>
        <p:spPr>
          <a:xfrm>
            <a:off x="302040" y="3935160"/>
            <a:ext cx="80823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     </a:t>
            </a: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Implicit social motivation triggers distinct beta/gamma EEG patterns in Parkinson’s, as healthy patients.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ZoneTexte 4"/>
          <p:cNvSpPr/>
          <p:nvPr/>
        </p:nvSpPr>
        <p:spPr>
          <a:xfrm>
            <a:off x="302040" y="5369760"/>
            <a:ext cx="81075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     </a:t>
            </a:r>
            <a:r>
              <a:rPr b="0" lang="fr-FR" sz="1800" spc="-1" strike="noStrike">
                <a:solidFill>
                  <a:schemeClr val="dk1"/>
                </a:solidFill>
                <a:latin typeface="Times New Roman"/>
              </a:rPr>
              <a:t>Aims to advance understanding and develop tageted therapies for motivation and motor engagement in Parkinson’s.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ZoneTexte 7"/>
          <p:cNvSpPr/>
          <p:nvPr/>
        </p:nvSpPr>
        <p:spPr>
          <a:xfrm>
            <a:off x="302040" y="2228400"/>
            <a:ext cx="80823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    </a:t>
            </a: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We obtained promising results, and the next step is to align the outcomes from Parkinson’s patients with those from healthy controls to find a new biomarker.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Graphique 9" descr="Processeur contour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76840" y="870120"/>
            <a:ext cx="397080" cy="397080"/>
          </a:xfrm>
          <a:prstGeom prst="rect">
            <a:avLst/>
          </a:prstGeom>
          <a:ln w="0">
            <a:noFill/>
          </a:ln>
        </p:spPr>
      </p:pic>
      <p:pic>
        <p:nvPicPr>
          <p:cNvPr id="227" name="Graphique 16" descr="Recherche contour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76840" y="2319480"/>
            <a:ext cx="397080" cy="397080"/>
          </a:xfrm>
          <a:prstGeom prst="rect">
            <a:avLst/>
          </a:prstGeom>
          <a:ln w="0">
            <a:noFill/>
          </a:ln>
        </p:spPr>
      </p:pic>
      <p:pic>
        <p:nvPicPr>
          <p:cNvPr id="228" name="Graphique 20" descr="Réseaux sociaux contour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290160" y="4028760"/>
            <a:ext cx="397080" cy="397080"/>
          </a:xfrm>
          <a:prstGeom prst="rect">
            <a:avLst/>
          </a:prstGeom>
          <a:ln w="0">
            <a:noFill/>
          </a:ln>
        </p:spPr>
      </p:pic>
      <p:pic>
        <p:nvPicPr>
          <p:cNvPr id="229" name="Graphique 22" descr="Intelligence artificielle contour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300960" y="5473800"/>
            <a:ext cx="382320" cy="382320"/>
          </a:xfrm>
          <a:prstGeom prst="rect">
            <a:avLst/>
          </a:prstGeom>
          <a:ln w="0">
            <a:noFill/>
          </a:ln>
        </p:spPr>
      </p:pic>
    </p:spTree>
  </p:cSld>
  <p:transition spd="slow">
    <p:fade/>
  </p:transition>
  <p:timing>
    <p:tnLst>
      <p:par>
        <p:cTn id="380" dur="indefinite" restart="never" nodeType="tmRoot">
          <p:childTnLst>
            <p:seq>
              <p:cTn id="381" dur="indefinite" nodeType="mainSeq">
                <p:childTnLst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6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7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2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3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8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9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4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5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0" name="Rectangle 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361280" y="2779920"/>
            <a:ext cx="4475520" cy="23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4102"/>
          </a:bodyPr>
          <a:p>
            <a:pPr indent="0" defTabSz="914400">
              <a:lnSpc>
                <a:spcPct val="100000"/>
              </a:lnSpc>
              <a:buNone/>
            </a:pPr>
            <a:r>
              <a:rPr b="1" lang="fr-FR" sz="4400" spc="-1" strike="noStrike">
                <a:solidFill>
                  <a:schemeClr val="dk1"/>
                </a:solidFill>
                <a:latin typeface="Times New Roman"/>
              </a:rPr>
              <a:t>Discussion, Limitations &amp; Perspectives</a:t>
            </a:r>
            <a:br>
              <a:rPr sz="4400"/>
            </a:br>
            <a:endParaRPr b="0" lang="fr-F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2" name="Rectangle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365560" y="386280"/>
            <a:ext cx="1715040" cy="6446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3" name="Rectangle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320" y="269280"/>
            <a:ext cx="5591520" cy="6171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4" name="Rectangle 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0600" y="2754000"/>
            <a:ext cx="148680" cy="1709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5" name="Rectangle 2"/>
          <p:cNvSpPr/>
          <p:nvPr/>
        </p:nvSpPr>
        <p:spPr>
          <a:xfrm>
            <a:off x="3529440" y="1685880"/>
            <a:ext cx="434520" cy="3265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6" name="Rectangle 3"/>
          <p:cNvSpPr/>
          <p:nvPr/>
        </p:nvSpPr>
        <p:spPr>
          <a:xfrm>
            <a:off x="3886200" y="2753640"/>
            <a:ext cx="417600" cy="26676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7" name="ZoneTexte 6"/>
          <p:cNvSpPr/>
          <p:nvPr/>
        </p:nvSpPr>
        <p:spPr>
          <a:xfrm>
            <a:off x="750600" y="416880"/>
            <a:ext cx="5586840" cy="15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Times New Roman"/>
              </a:rPr>
              <a:t>  </a:t>
            </a:r>
            <a:r>
              <a:rPr b="1" lang="en-US" sz="1800" spc="-1" strike="noStrike">
                <a:solidFill>
                  <a:schemeClr val="dk1"/>
                </a:solidFill>
                <a:latin typeface="Times New Roman"/>
              </a:rPr>
              <a:t>Key Findings &amp; Methodological Advances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Our pipeline improved spatial accuracy over ICA [4].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Single-trial classification in sensor space was effective and replicable.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Beta (15–32 Hz) and gamma (40–80 Hz) activity observed during motivated action without external rewards [9].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ZoneTexte 10"/>
          <p:cNvSpPr/>
          <p:nvPr/>
        </p:nvSpPr>
        <p:spPr>
          <a:xfrm>
            <a:off x="733320" y="2473920"/>
            <a:ext cx="5603760" cy="18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Times New Roman"/>
              </a:rPr>
              <a:t>             </a:t>
            </a:r>
            <a:r>
              <a:rPr b="1" lang="en-US" sz="1800" spc="-1" strike="noStrike">
                <a:solidFill>
                  <a:schemeClr val="dk1"/>
                </a:solidFill>
                <a:latin typeface="Times New Roman"/>
              </a:rPr>
              <a:t>Study Limitations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Trials were grouped in sets of 10 due to memory/computational constraints.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Protocol limited to fast-frequency bands; slower frequencies should be explored.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Focused on a specific motivational form, future work should consider broader motivational contexts</a:t>
            </a: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ZoneTexte 12"/>
          <p:cNvSpPr/>
          <p:nvPr/>
        </p:nvSpPr>
        <p:spPr>
          <a:xfrm>
            <a:off x="721080" y="4861800"/>
            <a:ext cx="5591520" cy="15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Times New Roman"/>
              </a:rPr>
              <a:t>              </a:t>
            </a:r>
            <a:r>
              <a:rPr b="1" lang="fr-FR" sz="1800" spc="-1" strike="noStrike">
                <a:solidFill>
                  <a:schemeClr val="dk1"/>
                </a:solidFill>
                <a:latin typeface="Times New Roman"/>
              </a:rPr>
              <a:t>Future Directions &amp; Applications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600" spc="-1" strike="noStrike">
                <a:solidFill>
                  <a:schemeClr val="dk1"/>
                </a:solidFill>
                <a:latin typeface="Times New Roman"/>
              </a:rPr>
              <a:t>Apply to larger, more diverse clinical populations.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600" spc="-1" strike="noStrike">
                <a:solidFill>
                  <a:schemeClr val="dk1"/>
                </a:solidFill>
                <a:latin typeface="Times New Roman"/>
              </a:rPr>
              <a:t>Investigate brain connectivity (Granger Causality [37], Transfer Entropy [38]).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fr-FR" sz="1600" spc="-1" strike="noStrike">
                <a:solidFill>
                  <a:schemeClr val="dk1"/>
                </a:solidFill>
                <a:latin typeface="Times New Roman"/>
              </a:rPr>
              <a:t>Combine EEG with fMRI[40]; explore non-invasive stimulation (TMS [41], Tdcs [42]).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ZoneTexte 13"/>
          <p:cNvSpPr/>
          <p:nvPr/>
        </p:nvSpPr>
        <p:spPr>
          <a:xfrm>
            <a:off x="9261000" y="5688360"/>
            <a:ext cx="2936880" cy="11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fr-FR" sz="1000" spc="-1" strike="noStrike">
                <a:solidFill>
                  <a:schemeClr val="dk1"/>
                </a:solidFill>
                <a:latin typeface="Times New Roman"/>
              </a:rPr>
              <a:t>[4] Cos et al., Research Square, 2021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i="1" lang="fr-FR" sz="1000" spc="-1" strike="noStrike">
                <a:solidFill>
                  <a:schemeClr val="dk1"/>
                </a:solidFill>
                <a:latin typeface="Times New Roman"/>
              </a:rPr>
              <a:t>[9] Le Heron et al.,Neuropsychologia, 2018</a:t>
            </a:r>
            <a:br>
              <a:rPr sz="1000"/>
            </a:br>
            <a:r>
              <a:rPr b="0" i="1" lang="fr-FR" sz="1000" spc="-1" strike="noStrike">
                <a:solidFill>
                  <a:schemeClr val="dk1"/>
                </a:solidFill>
                <a:latin typeface="Times New Roman"/>
              </a:rPr>
              <a:t>[37] Seth et al., J Neurosci, 2015</a:t>
            </a:r>
            <a:br>
              <a:rPr sz="1000"/>
            </a:br>
            <a:r>
              <a:rPr b="0" i="1" lang="fr-FR" sz="1000" spc="-1" strike="noStrike">
                <a:solidFill>
                  <a:schemeClr val="dk1"/>
                </a:solidFill>
                <a:latin typeface="Times New Roman"/>
              </a:rPr>
              <a:t>[38] Ursino et al., Front Comput Neurosci, 2020</a:t>
            </a:r>
            <a:br>
              <a:rPr sz="1000"/>
            </a:br>
            <a:r>
              <a:rPr b="0" i="1" lang="fr-FR" sz="1000" spc="-1" strike="noStrike">
                <a:solidFill>
                  <a:schemeClr val="dk1"/>
                </a:solidFill>
                <a:latin typeface="Times New Roman"/>
              </a:rPr>
              <a:t>[40] Chang &amp; Chen, Curr Opin Biomed Eng, 2021</a:t>
            </a:r>
            <a:br>
              <a:rPr sz="1000"/>
            </a:br>
            <a:r>
              <a:rPr b="0" i="1" lang="fr-FR" sz="1000" spc="-1" strike="noStrike">
                <a:solidFill>
                  <a:schemeClr val="dk1"/>
                </a:solidFill>
                <a:latin typeface="Times New Roman"/>
              </a:rPr>
              <a:t>[41] Institut du Cerveau, s.d.</a:t>
            </a:r>
            <a:br>
              <a:rPr sz="1000"/>
            </a:br>
            <a:r>
              <a:rPr b="0" i="1" lang="fr-FR" sz="1000" spc="-1" strike="noStrike">
                <a:solidFill>
                  <a:schemeClr val="dk1"/>
                </a:solidFill>
                <a:latin typeface="Times New Roman"/>
              </a:rPr>
              <a:t>[42] Gharib et al., L’Information Psychiatrique, 2016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" name="Graphique 15" descr="Partie gauche du cerveau contour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13760" y="331920"/>
            <a:ext cx="537120" cy="537120"/>
          </a:xfrm>
          <a:prstGeom prst="rect">
            <a:avLst/>
          </a:prstGeom>
          <a:ln w="0">
            <a:noFill/>
          </a:ln>
        </p:spPr>
      </p:pic>
      <p:pic>
        <p:nvPicPr>
          <p:cNvPr id="242" name="Graphique 18" descr="Avertissement contour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28880" y="2322720"/>
            <a:ext cx="456840" cy="456840"/>
          </a:xfrm>
          <a:prstGeom prst="rect">
            <a:avLst/>
          </a:prstGeom>
          <a:ln w="0">
            <a:noFill/>
          </a:ln>
        </p:spPr>
      </p:pic>
      <p:pic>
        <p:nvPicPr>
          <p:cNvPr id="243" name="Graphique 23" descr="Sciences de l’apprentissage à distance contour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63360" y="4695120"/>
            <a:ext cx="587880" cy="587880"/>
          </a:xfrm>
          <a:prstGeom prst="rect">
            <a:avLst/>
          </a:prstGeom>
          <a:ln w="0">
            <a:noFill/>
          </a:ln>
        </p:spPr>
      </p:pic>
    </p:spTree>
  </p:cSld>
  <p:transition spd="slow">
    <p:fade/>
  </p:transition>
  <p:timing>
    <p:tnLst>
      <p:par>
        <p:cTn id="406" dur="indefinite" restart="never" nodeType="tmRoot">
          <p:childTnLst>
            <p:seq>
              <p:cTn id="407" dur="indefinite" nodeType="mainSeq">
                <p:childTnLst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2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3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8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9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4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5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13079</TotalTime>
  <Application>LibreOffice/24.2.7.2$Linux_X86_64 LibreOffice_project/420$Build-2</Application>
  <AppVersion>15.0000</AppVersion>
  <Words>906</Words>
  <Paragraphs>110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2025-06-16T11:45:08Z</dcterms:created>
  <dc:creator>Clarisse Gratacos</dc:creator>
  <dc:description/>
  <dc:language>fr-FR</dc:language>
  <cp:lastModifiedBy/>
  <dcterms:modified xsi:type="dcterms:W3CDTF">2026-09-01T14:36:56Z</dcterms:modified>
  <cp:revision>81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16</vt:i4>
  </property>
</Properties>
</file>